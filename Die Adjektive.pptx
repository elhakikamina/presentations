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Montserrat Ultra-Bold" charset="1" panose="00000900000000000000"/>
      <p:regular r:id="rId35"/>
    </p:embeddedFont>
    <p:embeddedFont>
      <p:font typeface="Montserrat Bold" charset="1" panose="00000800000000000000"/>
      <p:regular r:id="rId36"/>
    </p:embeddedFont>
    <p:embeddedFont>
      <p:font typeface="Montserrat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4324902" y="1469072"/>
            <a:ext cx="4879847" cy="15755995"/>
          </a:xfrm>
          <a:custGeom>
            <a:avLst/>
            <a:gdLst/>
            <a:ahLst/>
            <a:cxnLst/>
            <a:rect r="r" b="b" t="t" l="l"/>
            <a:pathLst>
              <a:path h="15755995" w="4879847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992690" y="1539949"/>
            <a:ext cx="9336114" cy="9336114"/>
          </a:xfrm>
          <a:custGeom>
            <a:avLst/>
            <a:gdLst/>
            <a:ahLst/>
            <a:cxnLst/>
            <a:rect r="r" b="b" t="t" l="l"/>
            <a:pathLst>
              <a:path h="9336114" w="9336114">
                <a:moveTo>
                  <a:pt x="0" y="0"/>
                </a:moveTo>
                <a:lnTo>
                  <a:pt x="9336113" y="0"/>
                </a:lnTo>
                <a:lnTo>
                  <a:pt x="9336113" y="9336114"/>
                </a:lnTo>
                <a:lnTo>
                  <a:pt x="0" y="9336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989438" y="1530424"/>
            <a:ext cx="14006503" cy="1809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427" b="true">
                <a:solidFill>
                  <a:srgbClr val="2A2E3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Die Adjektive 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622817" y="3615237"/>
            <a:ext cx="16966819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spc="264" b="true">
                <a:solidFill>
                  <a:srgbClr val="4DBF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 ihre Endungen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68161" y="4784492"/>
            <a:ext cx="946367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pc="27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Mann ist groß.</a:t>
            </a:r>
          </a:p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الرجل طويل</a:t>
            </a: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68161" y="4784492"/>
            <a:ext cx="9463670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pc="27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</a:t>
            </a: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Haus ist klein.</a:t>
            </a:r>
          </a:p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المنزل صغير</a:t>
            </a: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868161" y="3717692"/>
            <a:ext cx="9463670" cy="422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400" indent="-647700" lvl="1">
              <a:lnSpc>
                <a:spcPts val="8400"/>
              </a:lnSpc>
              <a:spcBef>
                <a:spcPct val="0"/>
              </a:spcBef>
              <a:buFont typeface="Arial"/>
              <a:buChar char="•"/>
            </a:pPr>
            <a:r>
              <a:rPr lang="en-US" sz="6000" spc="27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Mann ist</a:t>
            </a: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groß.</a:t>
            </a:r>
          </a:p>
          <a:p>
            <a:pPr algn="l" marL="1295400" indent="-647700" lvl="1">
              <a:lnSpc>
                <a:spcPts val="8400"/>
              </a:lnSpc>
              <a:spcBef>
                <a:spcPct val="0"/>
              </a:spcBef>
              <a:buFont typeface="Arial"/>
              <a:buChar char="•"/>
            </a:pP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Frau ist schön.</a:t>
            </a:r>
          </a:p>
          <a:p>
            <a:pPr algn="l" marL="1295400" indent="-647700" lvl="1">
              <a:lnSpc>
                <a:spcPts val="8400"/>
              </a:lnSpc>
              <a:spcBef>
                <a:spcPct val="0"/>
              </a:spcBef>
              <a:buFont typeface="Arial"/>
              <a:buChar char="•"/>
            </a:pPr>
            <a:r>
              <a:rPr lang="en-US" sz="6000" spc="27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Kind ist klein.</a:t>
            </a:r>
          </a:p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47034" y="914400"/>
            <a:ext cx="13867129" cy="677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700"/>
              </a:lnSpc>
              <a:spcBef>
                <a:spcPct val="0"/>
              </a:spcBef>
            </a:pPr>
            <a:r>
              <a:rPr lang="ar-EG" sz="5500" spc="247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إذا جات الصفة</a:t>
            </a:r>
            <a:r>
              <a:rPr lang="ar-EG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قبل الاسم</a:t>
            </a:r>
            <a:r>
              <a:rPr lang="en-US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ar-EG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قبل</a:t>
            </a:r>
            <a:r>
              <a:rPr lang="en-US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Nomen)</a:t>
            </a:r>
          </a:p>
          <a:p>
            <a:pPr algn="l" rtl="true" marL="0" indent="0" lvl="0">
              <a:lnSpc>
                <a:spcPts val="7700"/>
              </a:lnSpc>
              <a:spcBef>
                <a:spcPct val="0"/>
              </a:spcBef>
            </a:pPr>
            <a:r>
              <a:rPr lang="ar-EG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خاصها توافق:</a:t>
            </a:r>
          </a:p>
          <a:p>
            <a:pPr algn="r" marL="1187453" indent="-593726" lvl="1">
              <a:lnSpc>
                <a:spcPts val="7700"/>
              </a:lnSpc>
              <a:spcBef>
                <a:spcPct val="0"/>
              </a:spcBef>
              <a:buFont typeface="Arial"/>
              <a:buChar char="•"/>
            </a:pPr>
            <a:r>
              <a:rPr lang="ar-EG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الجنس</a:t>
            </a:r>
            <a:r>
              <a:rPr lang="en-US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(maskulin / feminin / neutrum)</a:t>
            </a:r>
          </a:p>
          <a:p>
            <a:pPr algn="r" marL="1187453" indent="-593726" lvl="1">
              <a:lnSpc>
                <a:spcPts val="7700"/>
              </a:lnSpc>
              <a:spcBef>
                <a:spcPct val="0"/>
              </a:spcBef>
              <a:buFont typeface="Arial"/>
              <a:buChar char="•"/>
            </a:pPr>
            <a:r>
              <a:rPr lang="ar-EG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الحالة الإعرابية</a:t>
            </a:r>
            <a:r>
              <a:rPr lang="en-US" sz="5500" spc="247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(Nominativ / Akkusativ / Dativ)</a:t>
            </a:r>
          </a:p>
          <a:p>
            <a:pPr algn="r" marL="0" indent="0" lvl="0">
              <a:lnSpc>
                <a:spcPts val="770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32992"/>
            <a:ext cx="13867129" cy="9910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Nominativ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🔹 Maskulin</a:t>
            </a:r>
          </a:p>
          <a:p>
            <a:pPr algn="l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gute Mann =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الرجل الطيب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🔹 Feminin</a:t>
            </a:r>
          </a:p>
          <a:p>
            <a:pPr algn="l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schöne Frau = 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المرأة الجميلة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🔹 Neutrum</a:t>
            </a:r>
          </a:p>
          <a:p>
            <a:pPr algn="l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kleine Kind = 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الطفل الصغير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🔹 Plural</a:t>
            </a:r>
          </a:p>
          <a:p>
            <a:pPr algn="l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kleinen Kinder =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الأطفال الصغار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61667"/>
            <a:ext cx="13867129" cy="825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580"/>
              </a:lnSpc>
            </a:pPr>
          </a:p>
          <a:p>
            <a:pPr algn="l" rtl="true">
              <a:lnSpc>
                <a:spcPts val="6580"/>
              </a:lnSpc>
            </a:pPr>
            <a:r>
              <a:rPr lang="ar-EG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Dativ</a:t>
            </a:r>
          </a:p>
          <a:p>
            <a:pPr algn="just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spreche mit dem g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uten Mann</a:t>
            </a:r>
          </a:p>
          <a:p>
            <a:pPr algn="just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spreche mit der schönen Frau</a:t>
            </a:r>
          </a:p>
          <a:p>
            <a:pPr algn="just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spreche mit dem kleinen Kind</a:t>
            </a:r>
          </a:p>
          <a:p>
            <a:pPr algn="just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spreche mit den kleinen Kindern</a:t>
            </a:r>
          </a:p>
          <a:p>
            <a:pPr algn="just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</a:p>
          <a:p>
            <a:pPr algn="just" marL="0" indent="0" lvl="0">
              <a:lnSpc>
                <a:spcPts val="6580"/>
              </a:lnSpc>
              <a:spcBef>
                <a:spcPct val="0"/>
              </a:spcBef>
            </a:pP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هنا غالباً كتكون النهاية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-en</a:t>
            </a:r>
          </a:p>
          <a:p>
            <a:pPr algn="just" marL="0" indent="0" lvl="0">
              <a:lnSpc>
                <a:spcPts val="658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658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576005"/>
            <a:ext cx="13867129" cy="742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Akkus</a:t>
            </a: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ativ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Maskulin 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sehe den guten Mann.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أرى الرجل الطيب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rtl="true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sehe die schöne Frau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(ما تبدلاتش)</a:t>
            </a:r>
          </a:p>
          <a:p>
            <a:pPr algn="l" marL="1014737" indent="-507369" lvl="1">
              <a:lnSpc>
                <a:spcPts val="6580"/>
              </a:lnSpc>
              <a:spcBef>
                <a:spcPct val="0"/>
              </a:spcBef>
              <a:buFont typeface="Arial"/>
              <a:buChar char="•"/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sehe das kleine Kind (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ما تبدلاتش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Mann ist alt.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الرجل ك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بير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السن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alt: keine Endung, weil es nach „sein“ steht (Prädikativ).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3355"/>
            <a:ext cx="13867129" cy="410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alte 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Mann arbeitet.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الرجل الك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بير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يعمل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Mann: Nominativ maskulin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alte: -e, weil Nominativ maskulin mit „der“.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3355"/>
            <a:ext cx="13867129" cy="410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sehe den alten 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Mann.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أرى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الرجل الك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بير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Mann: Akkusativ maskulin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alten: -en, weil Akkusativ maskulin mit „den“.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Frau ist schö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المرأة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جميلة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schön: keine Endung, weil es nach „sein“ steht.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kaufe das rote Auto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أشتري السيارة الح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مراء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Auto: Akkusativ neutrum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rote: -e, weil Akkusativ neutrum mit „das“.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spreche mit dem kleinen Kind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أتكلم مع الطفل الصغي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Kind: Dativ neutrum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kleinen: -en, weil Dativ mit „dem“.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kleinen Kinder spielen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الأطفال الصغا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 يلعبون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Kinder: Nominativ plural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kleinen: -en, weil Plural mit „die“.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Junge ist klein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الولد صغي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klein: keine Endung, weil es nach „sein“ steht.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Junge ist klein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الولد صغي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klein: keine Endung, weil es nach „sein“ steht.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3355"/>
            <a:ext cx="13867129" cy="410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kleine Junge spielt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الولد الصغي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 يلعب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Junge: Nominativ maskulin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kleine: -e, weil Nominativ maskulin mit „der“.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3355"/>
            <a:ext cx="13867129" cy="410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habe einen kleinen Hund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أملك كلباً صغي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راً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Hund: Akkusativ maskulin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kleinen: -en, weil Akkusativ maskulin mit „einen“.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Haus ist groß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البيت كبي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groß: keine Endung, weil es nach „sein“ steht.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3355"/>
            <a:ext cx="13867129" cy="410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große Haus ist neu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البيت الكبي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 جديد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Haus: Nominativ neutrum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große: -e, weil Nominativ neutrum mit „das“.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 besuchen die nette Lehrerin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نحن نزور المعلمة اللط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يفة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Lehrerin: Akkusativ feminin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nette: -e, weil Akkusativ feminin mit „die“.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helfe dem alten Lehrer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أنا أساعد المعلم الكب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ير في السن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Lehrer: Dativ maskulin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alten: -en, weil Dativ maskulin mit „dem“.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Tasche ist teuer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الحق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يبة غالية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teuer: keine Endung, weil es nach „sein“ steht.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3355"/>
            <a:ext cx="13867129" cy="410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trägt eine schwarze Jacke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يرتدي سترة سوداء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Jacke: Akkusativ feminin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schwarze: -e, weil Akkusativ feminin mit „eine“.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233355"/>
            <a:ext cx="13867129" cy="4109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 wohnen in einer kleinen Stadt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نحن نسكن ف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 مدينة صغيرة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Stadt: Dativ feminin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kleinen: -en, weil Dativ feminin mit „einer“.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Bücher sind interessant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الكتب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ممتعة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interessant: keine Endung, weil es nach „sein“ steht.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Bücher sind interessant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الكتب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ممتعة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interessant: keine Endung, weil es nach „sein“ steht.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5877574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4" y="0"/>
                </a:lnTo>
                <a:lnTo>
                  <a:pt x="3889774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425209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47692"/>
            <a:ext cx="13867129" cy="3281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 interessanten Bücher liegen hier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الكتب</a:t>
            </a:r>
            <a:r>
              <a:rPr lang="ar-EG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الممتعة موجودة هنا</a:t>
            </a: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Bücher: Nominativ plural</a:t>
            </a:r>
          </a:p>
          <a:p>
            <a:pPr algn="l" marL="0" indent="0" lvl="0">
              <a:lnSpc>
                <a:spcPts val="6580"/>
              </a:lnSpc>
              <a:spcBef>
                <a:spcPct val="0"/>
              </a:spcBef>
            </a:pPr>
            <a:r>
              <a:rPr lang="en-US" sz="4700" spc="211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interessanten: -en, weil Plural mit „die“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707754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DAHBZPXjogo</dc:identifier>
  <dcterms:modified xsi:type="dcterms:W3CDTF">2011-08-01T06:04:30Z</dcterms:modified>
  <cp:revision>1</cp:revision>
  <dc:title>Die Adjektive</dc:title>
</cp:coreProperties>
</file>