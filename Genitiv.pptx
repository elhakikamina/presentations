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Montserrat Ultra-Bold" charset="1" panose="00000900000000000000"/>
      <p:regular r:id="rId30"/>
    </p:embeddedFont>
    <p:embeddedFont>
      <p:font typeface="Montserrat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51302" y="282619"/>
            <a:ext cx="11816077" cy="9721761"/>
            <a:chOff x="0" y="0"/>
            <a:chExt cx="6184570" cy="50883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2265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657241" y="282619"/>
            <a:ext cx="11816077" cy="9721761"/>
            <a:chOff x="0" y="0"/>
            <a:chExt cx="6184570" cy="50883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>
              <a:blip r:embed="rId2"/>
              <a:stretch>
                <a:fillRect l="-19140" t="0" r="-435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009060" y="5267110"/>
            <a:ext cx="3551768" cy="7730668"/>
            <a:chOff x="0" y="0"/>
            <a:chExt cx="935445" cy="2036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5445" cy="2036061"/>
            </a:xfrm>
            <a:custGeom>
              <a:avLst/>
              <a:gdLst/>
              <a:ahLst/>
              <a:cxnLst/>
              <a:rect r="r" b="b" t="t" l="l"/>
              <a:pathLst>
                <a:path h="2036061" w="935445">
                  <a:moveTo>
                    <a:pt x="0" y="0"/>
                  </a:moveTo>
                  <a:lnTo>
                    <a:pt x="935445" y="0"/>
                  </a:lnTo>
                  <a:lnTo>
                    <a:pt x="935445" y="2036061"/>
                  </a:lnTo>
                  <a:lnTo>
                    <a:pt x="0" y="2036061"/>
                  </a:lnTo>
                  <a:close/>
                </a:path>
              </a:pathLst>
            </a:custGeom>
            <a:solidFill>
              <a:srgbClr val="2265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5445" cy="2074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700000">
            <a:off x="16009060" y="-2710777"/>
            <a:ext cx="3551768" cy="7730668"/>
            <a:chOff x="0" y="0"/>
            <a:chExt cx="935445" cy="20360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5445" cy="2036061"/>
            </a:xfrm>
            <a:custGeom>
              <a:avLst/>
              <a:gdLst/>
              <a:ahLst/>
              <a:cxnLst/>
              <a:rect r="r" b="b" t="t" l="l"/>
              <a:pathLst>
                <a:path h="2036061" w="935445">
                  <a:moveTo>
                    <a:pt x="0" y="0"/>
                  </a:moveTo>
                  <a:lnTo>
                    <a:pt x="935445" y="0"/>
                  </a:lnTo>
                  <a:lnTo>
                    <a:pt x="935445" y="2036061"/>
                  </a:lnTo>
                  <a:lnTo>
                    <a:pt x="0" y="2036061"/>
                  </a:lnTo>
                  <a:close/>
                </a:path>
              </a:pathLst>
            </a:custGeom>
            <a:solidFill>
              <a:srgbClr val="2265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35445" cy="2074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3567553"/>
            <a:ext cx="8887398" cy="160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99"/>
              </a:lnSpc>
            </a:pPr>
            <a:r>
              <a:rPr lang="en-US" sz="12999" b="true">
                <a:solidFill>
                  <a:srgbClr val="1141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GENITIV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3942687" y="2976674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0" y="0"/>
                </a:moveTo>
                <a:lnTo>
                  <a:pt x="7620658" y="0"/>
                </a:lnTo>
                <a:lnTo>
                  <a:pt x="7620658" y="7620657"/>
                </a:lnTo>
                <a:lnTo>
                  <a:pt x="0" y="76206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87555"/>
            <a:ext cx="14769198" cy="16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Genitiv </a:t>
            </a:r>
            <a:r>
              <a:rPr lang="ar-EG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يُستعمل لِلتعبير عن الملكية أو العلاقة بين شيئين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87555"/>
            <a:ext cx="14769198" cy="16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ar-EG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مثال: كتابُ الطالبِ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=</a:t>
            </a:r>
          </a:p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das Buch des Schülers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5399"/>
            <a:ext cx="14769198" cy="588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Maskulin &amp; Neutrum</a:t>
            </a:r>
          </a:p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→ des + Nomen +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(s / es)</a:t>
            </a:r>
          </a:p>
          <a:p>
            <a:pPr algn="l" marL="1297214" indent="-648607" lvl="1">
              <a:lnSpc>
                <a:spcPts val="6609"/>
              </a:lnSpc>
              <a:buFont typeface="Arial"/>
              <a:buChar char="•"/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Vater → des Vaters</a:t>
            </a:r>
          </a:p>
          <a:p>
            <a:pPr algn="l" marL="1297214" indent="-648607" lvl="1">
              <a:lnSpc>
                <a:spcPts val="6609"/>
              </a:lnSpc>
              <a:buFont typeface="Arial"/>
              <a:buChar char="•"/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Schüler → des Schülers</a:t>
            </a:r>
          </a:p>
          <a:p>
            <a:pPr algn="l" marL="1297214" indent="-648607" lvl="1">
              <a:lnSpc>
                <a:spcPts val="6609"/>
              </a:lnSpc>
              <a:buFont typeface="Arial"/>
              <a:buChar char="•"/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Kind → des Kindes</a:t>
            </a:r>
          </a:p>
          <a:p>
            <a:pPr algn="l" marL="1297214" indent="-648607" lvl="1">
              <a:lnSpc>
                <a:spcPts val="6609"/>
              </a:lnSpc>
              <a:buFont typeface="Arial"/>
              <a:buChar char="•"/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Auto → des Autos</a:t>
            </a:r>
          </a:p>
          <a:p>
            <a:pPr algn="l">
              <a:lnSpc>
                <a:spcPts val="660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5399"/>
            <a:ext cx="14769198" cy="421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Feminin</a:t>
            </a:r>
          </a:p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→ der + Nomen</a:t>
            </a:r>
          </a:p>
          <a:p>
            <a:pPr algn="l" marL="1297214" indent="-648607" lvl="1">
              <a:lnSpc>
                <a:spcPts val="6609"/>
              </a:lnSpc>
              <a:buFont typeface="Arial"/>
              <a:buChar char="•"/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Mutter → der Mutter</a:t>
            </a:r>
          </a:p>
          <a:p>
            <a:pPr algn="l" marL="1297214" indent="-648607" lvl="1">
              <a:lnSpc>
                <a:spcPts val="6609"/>
              </a:lnSpc>
              <a:buFont typeface="Arial"/>
              <a:buChar char="•"/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Schule → der Schule</a:t>
            </a:r>
          </a:p>
          <a:p>
            <a:pPr algn="l">
              <a:lnSpc>
                <a:spcPts val="660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5399"/>
            <a:ext cx="14769198" cy="421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Plural</a:t>
            </a:r>
          </a:p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→ der + Nomen</a:t>
            </a:r>
          </a:p>
          <a:p>
            <a:pPr algn="l" marL="1297214" indent="-648607" lvl="1">
              <a:lnSpc>
                <a:spcPts val="6609"/>
              </a:lnSpc>
              <a:buFont typeface="Arial"/>
              <a:buChar char="•"/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Kinder → der Kinder</a:t>
            </a:r>
          </a:p>
          <a:p>
            <a:pPr algn="l" marL="1297214" indent="-648607" lvl="1">
              <a:lnSpc>
                <a:spcPts val="6609"/>
              </a:lnSpc>
              <a:buFont typeface="Arial"/>
              <a:buChar char="•"/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Freunde → der Freunde</a:t>
            </a:r>
          </a:p>
          <a:p>
            <a:pPr algn="l">
              <a:lnSpc>
                <a:spcPts val="660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5399"/>
            <a:ext cx="14769198" cy="16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ist das Auto des Mannes.</a:t>
            </a:r>
          </a:p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هذه سيارة الرجل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5399"/>
            <a:ext cx="14769198" cy="16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ist das Buch des Schülers.</a:t>
            </a:r>
          </a:p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كتاب التلميذ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5399"/>
            <a:ext cx="14769198" cy="16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ist die Tasche der Frau.</a:t>
            </a:r>
          </a:p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هذه حقيبة المرأة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5399"/>
            <a:ext cx="14769198" cy="16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Sp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ielzeug des Kindes ist neu.</a:t>
            </a:r>
          </a:p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لعبة الطفل جديدة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5399"/>
            <a:ext cx="14769198" cy="16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Namen der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Stud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enten sind hier.</a:t>
            </a:r>
          </a:p>
          <a:p>
            <a:pPr algn="l">
              <a:lnSpc>
                <a:spcPts val="6609"/>
              </a:lnSpc>
            </a:pP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أسماء الطلبة هنا</a:t>
            </a:r>
            <a:r>
              <a:rPr lang="en-US" sz="60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0102" y="1506484"/>
            <a:ext cx="14769198" cy="730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Maskulin &amp; Neutrum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→ des + Nomen + (s / es)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</a:t>
            </a: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Mann → des Mannes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der Lehrer → des Lehrers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der Brud</a:t>
            </a: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er → des Bruders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der Freund → des Freundes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der Hund → des Hundes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der Chef → des Chefs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Haus → des Hauses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das Buch → des Buches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das Bild → des Bildes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das Handy → des Handys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das Zimmer → des Zimmers</a:t>
            </a:r>
          </a:p>
          <a:p>
            <a:pPr algn="l">
              <a:lnSpc>
                <a:spcPts val="3859"/>
              </a:lnSpc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das Mädchen → des Mädchens</a:t>
            </a:r>
          </a:p>
          <a:p>
            <a:pPr algn="l">
              <a:lnSpc>
                <a:spcPts val="38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0102" y="1506484"/>
            <a:ext cx="14769198" cy="487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Feminin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→ der + Nomen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Fr</a:t>
            </a: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au → der Frau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Tochter → der Tochter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Schwest</a:t>
            </a: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er → der Schwester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Lehrerin → der Lehrerin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Stadt → der Stadt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Tasche → der Tasche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Lampe → der Lampe</a:t>
            </a:r>
          </a:p>
          <a:p>
            <a:pPr algn="l">
              <a:lnSpc>
                <a:spcPts val="38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0102" y="1506484"/>
            <a:ext cx="14769198" cy="487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Plural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→ der + Nomen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Eltern</a:t>
            </a: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→ der Eltern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Schüler → der Schüler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Lehr</a:t>
            </a: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er → der Lehrer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Bücher → der Bücher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Autos → der Autos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Häuser → der Häuser</a:t>
            </a:r>
          </a:p>
          <a:p>
            <a:pPr algn="l" marL="757477" indent="-378739" lvl="1">
              <a:lnSpc>
                <a:spcPts val="3859"/>
              </a:lnSpc>
              <a:buAutoNum type="arabicPeriod" startAt="1"/>
            </a:pPr>
            <a:r>
              <a:rPr lang="en-US" sz="35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die Städte → der Städte</a:t>
            </a:r>
          </a:p>
          <a:p>
            <a:pPr algn="l">
              <a:lnSpc>
                <a:spcPts val="38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ist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das Haus des Mannes.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بيت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الرجل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Mann (m) → des Mannes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ist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das Buch des Lehrers.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كتاب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الأستاذ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Lehrer (m) → des Lehrers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Spielzeug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des Kindes ist neu.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لعبة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الطفل جديدة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Kind (n) → des Kindes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Farbe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des Autos ist schwarz.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لون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السيارة أسود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Auto (n) → des Autos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Name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der Schule ist modern.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اسم المدرسة حديث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Schule (f) → der Schule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Freunde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der Kinder sind hier.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أصدق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اء الأطفال هنا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Kinder (pl) → der Kinder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Bücher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der Studenten sind interessant.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كتب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الطلاب ممتعة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Studenten (pl) → der Studenten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Zimmer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des Hotels ist groß.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غرفة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الفندق كبيرة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Hotel (n) → des Hotels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Fahrrad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des Bruders ist neu.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دراجة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الأخ جديدة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Bruder (m) → des Bruders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82" y="3921713"/>
            <a:ext cx="14769198" cy="2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Fahrrad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des Bruders ist neu.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دراجة</a:t>
            </a:r>
            <a:r>
              <a:rPr lang="ar-EG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الأخ جديدة</a:t>
            </a: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38140" indent="-519070" lvl="1">
              <a:lnSpc>
                <a:spcPts val="5289"/>
              </a:lnSpc>
              <a:buAutoNum type="arabicPeriod" startAt="1"/>
            </a:pPr>
            <a:r>
              <a:rPr lang="en-US" sz="4808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Bruder (m) → des Bruders</a:t>
            </a:r>
          </a:p>
          <a:p>
            <a:pPr algn="l">
              <a:lnSpc>
                <a:spcPts val="528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DAHBakL3_lQ</dc:identifier>
  <dcterms:modified xsi:type="dcterms:W3CDTF">2011-08-01T06:04:30Z</dcterms:modified>
  <cp:revision>1</cp:revision>
  <dc:title>Genitiv</dc:title>
</cp:coreProperties>
</file>