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Montserrat Ultra-Bold" charset="1" panose="00000900000000000000"/>
      <p:regular r:id="rId15"/>
    </p:embeddedFont>
    <p:embeddedFont>
      <p:font typeface="Montserrat" charset="1" panose="000005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8100000">
            <a:off x="14324902" y="1469072"/>
            <a:ext cx="4879847" cy="15755995"/>
          </a:xfrm>
          <a:custGeom>
            <a:avLst/>
            <a:gdLst/>
            <a:ahLst/>
            <a:cxnLst/>
            <a:rect r="r" b="b" t="t" l="l"/>
            <a:pathLst>
              <a:path h="15755995" w="4879847">
                <a:moveTo>
                  <a:pt x="0" y="0"/>
                </a:moveTo>
                <a:lnTo>
                  <a:pt x="4879847" y="0"/>
                </a:lnTo>
                <a:lnTo>
                  <a:pt x="4879847" y="15755996"/>
                </a:lnTo>
                <a:lnTo>
                  <a:pt x="0" y="15755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8992690" y="1539949"/>
            <a:ext cx="9336114" cy="9336114"/>
          </a:xfrm>
          <a:custGeom>
            <a:avLst/>
            <a:gdLst/>
            <a:ahLst/>
            <a:cxnLst/>
            <a:rect r="r" b="b" t="t" l="l"/>
            <a:pathLst>
              <a:path h="9336114" w="9336114">
                <a:moveTo>
                  <a:pt x="0" y="0"/>
                </a:moveTo>
                <a:lnTo>
                  <a:pt x="9336113" y="0"/>
                </a:lnTo>
                <a:lnTo>
                  <a:pt x="9336113" y="9336114"/>
                </a:lnTo>
                <a:lnTo>
                  <a:pt x="0" y="93361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1689456" y="3433806"/>
            <a:ext cx="13044410" cy="1809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45"/>
              </a:lnSpc>
            </a:pPr>
            <a:r>
              <a:rPr lang="en-US" sz="11871" spc="427" b="true">
                <a:solidFill>
                  <a:srgbClr val="2A2E3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Konjunktionen 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2700000">
            <a:off x="521329" y="-3317944"/>
            <a:ext cx="2336254" cy="7543272"/>
          </a:xfrm>
          <a:custGeom>
            <a:avLst/>
            <a:gdLst/>
            <a:ahLst/>
            <a:cxnLst/>
            <a:rect r="r" b="b" t="t" l="l"/>
            <a:pathLst>
              <a:path h="7543272" w="2336254">
                <a:moveTo>
                  <a:pt x="0" y="0"/>
                </a:moveTo>
                <a:lnTo>
                  <a:pt x="2336254" y="0"/>
                </a:lnTo>
                <a:lnTo>
                  <a:pt x="2336254" y="7543273"/>
                </a:lnTo>
                <a:lnTo>
                  <a:pt x="0" y="75432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-434583" y="-78920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972758" y="7454921"/>
            <a:ext cx="540836" cy="534936"/>
          </a:xfrm>
          <a:custGeom>
            <a:avLst/>
            <a:gdLst/>
            <a:ahLst/>
            <a:cxnLst/>
            <a:rect r="r" b="b" t="t" l="l"/>
            <a:pathLst>
              <a:path h="534936" w="540836">
                <a:moveTo>
                  <a:pt x="0" y="0"/>
                </a:moveTo>
                <a:lnTo>
                  <a:pt x="540836" y="0"/>
                </a:lnTo>
                <a:lnTo>
                  <a:pt x="540836" y="534936"/>
                </a:lnTo>
                <a:lnTo>
                  <a:pt x="0" y="5349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5599372" y="-501743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4" y="0"/>
                </a:lnTo>
                <a:lnTo>
                  <a:pt x="3889774" y="12559257"/>
                </a:lnTo>
                <a:lnTo>
                  <a:pt x="0" y="125592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356049" y="-236078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720146" y="646371"/>
            <a:ext cx="6836396" cy="1111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99"/>
              </a:lnSpc>
              <a:spcBef>
                <a:spcPct val="0"/>
              </a:spcBef>
            </a:pPr>
            <a:r>
              <a:rPr lang="en-US" sz="6499" spc="292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und – </a:t>
            </a:r>
            <a:r>
              <a:rPr lang="ar-EG" sz="6499" spc="292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و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235961" y="8106366"/>
            <a:ext cx="2945028" cy="5777885"/>
            <a:chOff x="0" y="0"/>
            <a:chExt cx="406400" cy="7973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647034" y="2125504"/>
            <a:ext cx="15061441" cy="3416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99"/>
              </a:lnSpc>
              <a:spcBef>
                <a:spcPct val="0"/>
              </a:spcBef>
            </a:pPr>
            <a:r>
              <a:rPr lang="en-US" sz="6499" spc="292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Ich lerne Deutsch </a:t>
            </a:r>
            <a:r>
              <a:rPr lang="en-US" sz="6499" spc="292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und ich arbeite viel.</a:t>
            </a:r>
          </a:p>
          <a:p>
            <a:pPr algn="l" marL="0" indent="0" lvl="0">
              <a:lnSpc>
                <a:spcPts val="9099"/>
              </a:lnSpc>
              <a:spcBef>
                <a:spcPct val="0"/>
              </a:spcBef>
            </a:pPr>
            <a:r>
              <a:rPr lang="en-US" sz="6499" spc="292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6499" spc="292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أنا أتعلم الألمانية وأعمل كثيرًا</a:t>
            </a:r>
            <a:r>
              <a:rPr lang="en-US" sz="6499" spc="292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5599372" y="-501743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4" y="0"/>
                </a:lnTo>
                <a:lnTo>
                  <a:pt x="3889774" y="12559257"/>
                </a:lnTo>
                <a:lnTo>
                  <a:pt x="0" y="125592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356049" y="-236078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720146" y="646371"/>
            <a:ext cx="6836396" cy="1111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99"/>
              </a:lnSpc>
              <a:spcBef>
                <a:spcPct val="0"/>
              </a:spcBef>
            </a:pPr>
            <a:r>
              <a:rPr lang="en-US" sz="6499" spc="292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o</a:t>
            </a:r>
            <a:r>
              <a:rPr lang="en-US" sz="6499" spc="292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der – </a:t>
            </a:r>
            <a:r>
              <a:rPr lang="ar-EG" sz="6499" spc="292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أو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235961" y="8106366"/>
            <a:ext cx="2945028" cy="5777885"/>
            <a:chOff x="0" y="0"/>
            <a:chExt cx="406400" cy="7973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647034" y="2701767"/>
            <a:ext cx="15061441" cy="2263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99"/>
              </a:lnSpc>
              <a:spcBef>
                <a:spcPct val="0"/>
              </a:spcBef>
            </a:pPr>
            <a:r>
              <a:rPr lang="en-US" sz="6499" spc="292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Trinkst du Tee o</a:t>
            </a:r>
            <a:r>
              <a:rPr lang="en-US" sz="6499" spc="292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der Kaffee?</a:t>
            </a:r>
          </a:p>
          <a:p>
            <a:pPr algn="l" marL="0" indent="0" lvl="0">
              <a:lnSpc>
                <a:spcPts val="9099"/>
              </a:lnSpc>
              <a:spcBef>
                <a:spcPct val="0"/>
              </a:spcBef>
            </a:pPr>
            <a:r>
              <a:rPr lang="en-US" sz="6499" spc="292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6499" spc="292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هل تشرب شاي أم قهوة؟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5599372" y="-501743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4" y="0"/>
                </a:lnTo>
                <a:lnTo>
                  <a:pt x="3889774" y="12559257"/>
                </a:lnTo>
                <a:lnTo>
                  <a:pt x="0" y="125592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356049" y="-236078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720146" y="646371"/>
            <a:ext cx="6836396" cy="1111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99"/>
              </a:lnSpc>
              <a:spcBef>
                <a:spcPct val="0"/>
              </a:spcBef>
            </a:pPr>
            <a:r>
              <a:rPr lang="en-US" sz="6499" spc="292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ab</a:t>
            </a:r>
            <a:r>
              <a:rPr lang="en-US" sz="6499" spc="292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er – </a:t>
            </a:r>
            <a:r>
              <a:rPr lang="ar-EG" sz="6499" spc="292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لكن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235961" y="8106366"/>
            <a:ext cx="2945028" cy="5777885"/>
            <a:chOff x="0" y="0"/>
            <a:chExt cx="406400" cy="7973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647034" y="2701767"/>
            <a:ext cx="15061441" cy="2263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99"/>
              </a:lnSpc>
              <a:spcBef>
                <a:spcPct val="0"/>
              </a:spcBef>
            </a:pPr>
            <a:r>
              <a:rPr lang="en-US" sz="6499" spc="292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Ich bin müde, ab</a:t>
            </a:r>
            <a:r>
              <a:rPr lang="en-US" sz="6499" spc="292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er ich arbeite.</a:t>
            </a:r>
          </a:p>
          <a:p>
            <a:pPr algn="l" marL="0" indent="0" lvl="0">
              <a:lnSpc>
                <a:spcPts val="9099"/>
              </a:lnSpc>
              <a:spcBef>
                <a:spcPct val="0"/>
              </a:spcBef>
            </a:pPr>
            <a:r>
              <a:rPr lang="en-US" sz="6499" spc="292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6499" spc="292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أنا متعب لكنني أعمل</a:t>
            </a:r>
            <a:r>
              <a:rPr lang="en-US" sz="6499" spc="292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5599372" y="-501743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4" y="0"/>
                </a:lnTo>
                <a:lnTo>
                  <a:pt x="3889774" y="12559257"/>
                </a:lnTo>
                <a:lnTo>
                  <a:pt x="0" y="125592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356049" y="-236078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720146" y="646371"/>
            <a:ext cx="6836396" cy="1111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99"/>
              </a:lnSpc>
              <a:spcBef>
                <a:spcPct val="0"/>
              </a:spcBef>
            </a:pPr>
            <a:r>
              <a:rPr lang="en-US" sz="6499" spc="292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d</a:t>
            </a:r>
            <a:r>
              <a:rPr lang="en-US" sz="6499" spc="292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enn – </a:t>
            </a:r>
            <a:r>
              <a:rPr lang="ar-EG" sz="6499" spc="292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لأن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235961" y="8106366"/>
            <a:ext cx="2945028" cy="5777885"/>
            <a:chOff x="0" y="0"/>
            <a:chExt cx="406400" cy="7973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647034" y="2125504"/>
            <a:ext cx="15061441" cy="3416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99"/>
              </a:lnSpc>
              <a:spcBef>
                <a:spcPct val="0"/>
              </a:spcBef>
            </a:pPr>
            <a:r>
              <a:rPr lang="en-US" sz="6499" spc="292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Ich gehe schlafen, d</a:t>
            </a:r>
            <a:r>
              <a:rPr lang="en-US" sz="6499" spc="292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enn ich bin müde.</a:t>
            </a:r>
          </a:p>
          <a:p>
            <a:pPr algn="l" marL="0" indent="0" lvl="0">
              <a:lnSpc>
                <a:spcPts val="9099"/>
              </a:lnSpc>
              <a:spcBef>
                <a:spcPct val="0"/>
              </a:spcBef>
            </a:pPr>
            <a:r>
              <a:rPr lang="en-US" sz="6499" spc="292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6499" spc="292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أذهب للنوم لأنني متعب</a:t>
            </a:r>
            <a:r>
              <a:rPr lang="en-US" sz="6499" spc="292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5599372" y="-501743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4" y="0"/>
                </a:lnTo>
                <a:lnTo>
                  <a:pt x="3889774" y="12559257"/>
                </a:lnTo>
                <a:lnTo>
                  <a:pt x="0" y="125592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356049" y="-236078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720146" y="646371"/>
            <a:ext cx="6836396" cy="1111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99"/>
              </a:lnSpc>
              <a:spcBef>
                <a:spcPct val="0"/>
              </a:spcBef>
            </a:pPr>
            <a:r>
              <a:rPr lang="en-US" sz="6499" spc="292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w</a:t>
            </a:r>
            <a:r>
              <a:rPr lang="en-US" sz="6499" spc="292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eil – </a:t>
            </a:r>
            <a:r>
              <a:rPr lang="ar-EG" sz="6499" spc="292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لأن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235961" y="8106366"/>
            <a:ext cx="2945028" cy="5777885"/>
            <a:chOff x="0" y="0"/>
            <a:chExt cx="406400" cy="7973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647034" y="2125504"/>
            <a:ext cx="15061441" cy="3416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99"/>
              </a:lnSpc>
              <a:spcBef>
                <a:spcPct val="0"/>
              </a:spcBef>
            </a:pPr>
            <a:r>
              <a:rPr lang="en-US" sz="6499" spc="292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Ich bleibe zu Hause, w</a:t>
            </a:r>
            <a:r>
              <a:rPr lang="en-US" sz="6499" spc="292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eil ich krank bin.</a:t>
            </a:r>
          </a:p>
          <a:p>
            <a:pPr algn="l" marL="0" indent="0" lvl="0">
              <a:lnSpc>
                <a:spcPts val="9099"/>
              </a:lnSpc>
              <a:spcBef>
                <a:spcPct val="0"/>
              </a:spcBef>
            </a:pPr>
            <a:r>
              <a:rPr lang="en-US" sz="6499" spc="292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6499" spc="292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أبقى في البيت لأنني مريض</a:t>
            </a:r>
            <a:r>
              <a:rPr lang="en-US" sz="6499" spc="292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5599372" y="-501743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4" y="0"/>
                </a:lnTo>
                <a:lnTo>
                  <a:pt x="3889774" y="12559257"/>
                </a:lnTo>
                <a:lnTo>
                  <a:pt x="0" y="125592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356049" y="-236078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720146" y="646371"/>
            <a:ext cx="6836396" cy="1111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99"/>
              </a:lnSpc>
              <a:spcBef>
                <a:spcPct val="0"/>
              </a:spcBef>
            </a:pPr>
            <a:r>
              <a:rPr lang="en-US" sz="6499" spc="292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dass</a:t>
            </a:r>
            <a:r>
              <a:rPr lang="en-US" sz="6499" spc="292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– </a:t>
            </a:r>
            <a:r>
              <a:rPr lang="ar-EG" sz="6499" spc="292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أن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235961" y="8106366"/>
            <a:ext cx="2945028" cy="5777885"/>
            <a:chOff x="0" y="0"/>
            <a:chExt cx="406400" cy="7973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647034" y="2701767"/>
            <a:ext cx="15061441" cy="2263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99"/>
              </a:lnSpc>
              <a:spcBef>
                <a:spcPct val="0"/>
              </a:spcBef>
            </a:pPr>
            <a:r>
              <a:rPr lang="en-US" sz="6499" spc="292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Ich weiß, dass du</a:t>
            </a:r>
            <a:r>
              <a:rPr lang="en-US" sz="6499" spc="292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hier bist.</a:t>
            </a:r>
          </a:p>
          <a:p>
            <a:pPr algn="l" marL="0" indent="0" lvl="0">
              <a:lnSpc>
                <a:spcPts val="9099"/>
              </a:lnSpc>
              <a:spcBef>
                <a:spcPct val="0"/>
              </a:spcBef>
            </a:pPr>
            <a:r>
              <a:rPr lang="en-US" sz="6499" spc="292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6499" spc="292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أعلم أنك هنا</a:t>
            </a:r>
            <a:r>
              <a:rPr lang="en-US" sz="6499" spc="292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5599372" y="-501743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4" y="0"/>
                </a:lnTo>
                <a:lnTo>
                  <a:pt x="3889774" y="12559257"/>
                </a:lnTo>
                <a:lnTo>
                  <a:pt x="0" y="125592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356049" y="-236078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720146" y="646371"/>
            <a:ext cx="6836396" cy="1111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99"/>
              </a:lnSpc>
              <a:spcBef>
                <a:spcPct val="0"/>
              </a:spcBef>
            </a:pPr>
            <a:r>
              <a:rPr lang="en-US" sz="6499" spc="292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wenn</a:t>
            </a:r>
            <a:r>
              <a:rPr lang="en-US" sz="6499" spc="292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– </a:t>
            </a:r>
            <a:r>
              <a:rPr lang="ar-EG" sz="6499" spc="292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عندما / إذا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235961" y="8106366"/>
            <a:ext cx="2945028" cy="5777885"/>
            <a:chOff x="0" y="0"/>
            <a:chExt cx="406400" cy="7973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647034" y="2125504"/>
            <a:ext cx="15061441" cy="3416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99"/>
              </a:lnSpc>
              <a:spcBef>
                <a:spcPct val="0"/>
              </a:spcBef>
            </a:pPr>
            <a:r>
              <a:rPr lang="en-US" sz="6499" spc="292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Wenn ich Zeit habe, komm</a:t>
            </a:r>
            <a:r>
              <a:rPr lang="en-US" sz="6499" spc="292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e ich.</a:t>
            </a:r>
          </a:p>
          <a:p>
            <a:pPr algn="l" marL="0" indent="0" lvl="0">
              <a:lnSpc>
                <a:spcPts val="9099"/>
              </a:lnSpc>
              <a:spcBef>
                <a:spcPct val="0"/>
              </a:spcBef>
            </a:pPr>
            <a:r>
              <a:rPr lang="en-US" sz="6499" spc="292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6499" spc="292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إذا كان لدي وقت، آتي</a:t>
            </a:r>
            <a:r>
              <a:rPr lang="en-US" sz="6499" spc="292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 marL="0" indent="0" lvl="0">
              <a:lnSpc>
                <a:spcPts val="90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5599372" y="-501743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4" y="0"/>
                </a:lnTo>
                <a:lnTo>
                  <a:pt x="3889774" y="12559257"/>
                </a:lnTo>
                <a:lnTo>
                  <a:pt x="0" y="125592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356049" y="-236078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371921" y="222970"/>
            <a:ext cx="14698691" cy="5906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39"/>
              </a:lnSpc>
              <a:spcBef>
                <a:spcPct val="0"/>
              </a:spcBef>
            </a:pPr>
            <a:r>
              <a:rPr lang="en-US" sz="5599" spc="25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Ich lerne Deutsch, weil ich in Deutschland</a:t>
            </a:r>
            <a:r>
              <a:rPr lang="en-US" sz="5599" spc="25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arbeiten möchte.</a:t>
            </a:r>
          </a:p>
          <a:p>
            <a:pPr algn="l" marL="0" indent="0" lvl="0">
              <a:lnSpc>
                <a:spcPts val="7839"/>
              </a:lnSpc>
              <a:spcBef>
                <a:spcPct val="0"/>
              </a:spcBef>
            </a:pPr>
            <a:r>
              <a:rPr lang="en-US" sz="5599" spc="25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Ich trinke Kaffee und ich lese ein Buch.</a:t>
            </a:r>
          </a:p>
          <a:p>
            <a:pPr algn="l" marL="0" indent="0" lvl="0">
              <a:lnSpc>
                <a:spcPts val="7839"/>
              </a:lnSpc>
              <a:spcBef>
                <a:spcPct val="0"/>
              </a:spcBef>
            </a:pPr>
            <a:r>
              <a:rPr lang="en-US" sz="5599" spc="25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Ich bin müde, aber ich lerne weiter.</a:t>
            </a:r>
          </a:p>
          <a:p>
            <a:pPr algn="l" marL="0" indent="0" lvl="0">
              <a:lnSpc>
                <a:spcPts val="7839"/>
              </a:lnSpc>
              <a:spcBef>
                <a:spcPct val="0"/>
              </a:spcBef>
            </a:pPr>
            <a:r>
              <a:rPr lang="en-US" sz="5599" spc="25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Ich bleibe zu Hause, wenn es regnet.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235961" y="8106366"/>
            <a:ext cx="2945028" cy="5777885"/>
            <a:chOff x="0" y="0"/>
            <a:chExt cx="406400" cy="7973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651890" y="6610350"/>
            <a:ext cx="15061441" cy="2647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ar-EG" sz="3000" spc="135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أتعلم الألمانية لأنني أريد العمل</a:t>
            </a:r>
            <a:r>
              <a:rPr lang="ar-EG" sz="3000" spc="135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 في ألمانيا</a:t>
            </a:r>
            <a:r>
              <a:rPr lang="en-US" sz="3000" spc="135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 spc="135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3000" spc="135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أشرب القهوة وأقرأ كتابًا</a:t>
            </a:r>
            <a:r>
              <a:rPr lang="en-US" sz="3000" spc="135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 spc="135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3000" spc="135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أنا متعب لكنني أواصل التعلم</a:t>
            </a:r>
            <a:r>
              <a:rPr lang="en-US" sz="3000" spc="135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 spc="135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3000" spc="135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أبقى في البيت عندما تمطر</a:t>
            </a:r>
            <a:r>
              <a:rPr lang="en-US" sz="3000" spc="135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DAHBacpDqLA</dc:identifier>
  <dcterms:modified xsi:type="dcterms:W3CDTF">2011-08-01T06:04:30Z</dcterms:modified>
  <cp:revision>1</cp:revision>
  <dc:title>Konjunktionen</dc:title>
</cp:coreProperties>
</file>