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Ubuntu Bold" charset="1" panose="020B0804030602030204"/>
      <p:regular r:id="rId21"/>
    </p:embeddedFont>
    <p:embeddedFont>
      <p:font typeface="Ubuntu" charset="1" panose="020B050403060203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14817" y="3367572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14817" y="3500922"/>
            <a:ext cx="11895438" cy="120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34"/>
              </a:lnSpc>
            </a:pPr>
            <a:r>
              <a:rPr lang="en-US" b="true" sz="8834">
                <a:solidFill>
                  <a:srgbClr val="0C1116"/>
                </a:solidFill>
                <a:latin typeface="Ubuntu Bold"/>
                <a:ea typeface="Ubuntu Bold"/>
                <a:cs typeface="Ubuntu Bold"/>
                <a:sym typeface="Ubuntu Bold"/>
              </a:rPr>
              <a:t>Nebe</a:t>
            </a:r>
            <a:r>
              <a:rPr lang="en-US" b="true" sz="8834">
                <a:solidFill>
                  <a:srgbClr val="0C1116"/>
                </a:solidFill>
                <a:latin typeface="Ubuntu Bold"/>
                <a:ea typeface="Ubuntu Bold"/>
                <a:cs typeface="Ubuntu Bold"/>
                <a:sym typeface="Ubuntu Bold"/>
              </a:rPr>
              <a:t>nsatz kausal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3912184"/>
            <a:ext cx="13792383" cy="3822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1) weil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=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لأن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2) da =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بما أن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3) denn =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لأن</a:t>
            </a:r>
          </a:p>
          <a:p>
            <a:pPr algn="l" marL="0" indent="0" lvl="0">
              <a:lnSpc>
                <a:spcPts val="753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4864684"/>
            <a:ext cx="13792383" cy="191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Ich bleibe zu Hause, weil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ich krank bin.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أنا أبقى في البيت لأنني مريض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4388434"/>
            <a:ext cx="13792383" cy="286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Er lernt Deutsch, weil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er in Deutschland arbeiten möchte.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هو يتعلم الألمانية لأنه يريد أن يعمل في ألمانيا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4864684"/>
            <a:ext cx="13792383" cy="191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Da ich k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rank bin, bleibe ich zu Hause.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بما أنني مريض، أبقى في البيت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4864684"/>
            <a:ext cx="13792383" cy="191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Ich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bleibe zu Hause, denn ich bin krank.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أنا أبقى في البيت لأنني مريض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4388434"/>
            <a:ext cx="13792383" cy="286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Ich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lerne Deutsch, weil ich in Deutschland studieren möchte.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أنا أتعلم الألمانية لأنني أريد أن أدرس في ألمانيا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4864684"/>
            <a:ext cx="13792383" cy="191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Wir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bleiben zu Hause, weil es regnet.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نحن نبقى في البيت لأن الجو ممطر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4388434"/>
            <a:ext cx="13792383" cy="286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Er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kommt zu spät, weil er den Bus verpasst hat.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هو يأتي متأخراً لأنه فاته الحافلة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4864684"/>
            <a:ext cx="13792383" cy="191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Sie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ist müde, weil sie viel gearbeitet hat.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هي متعبة لأنها عملت كثيراً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4388434"/>
            <a:ext cx="13792383" cy="286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Ich gehe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früh schlafen, weil ich morgen einen Termin habe.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أنا أذهب للنوم مبكراً لأن لدي موعد غداً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4864684"/>
            <a:ext cx="13792383" cy="191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Da ich kein Geld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habe, kaufe ich nichts.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بما أنني لا أملك مالاً، لا أشتري شيئاً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4864684"/>
            <a:ext cx="13792383" cy="1917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Da er krank ist,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bleibt er im Bett.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بما أنه مريض، يبقى في السرير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4388434"/>
            <a:ext cx="13792383" cy="286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Er lernt viel,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denn die Prüfung ist morgen.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هو يدرس كثيراً لأن الامتحان غداً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EF">
                <a:alpha val="100000"/>
              </a:srgbClr>
            </a:gs>
            <a:gs pos="100000">
              <a:srgbClr val="D7DCD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4479881" y="5866080"/>
            <a:ext cx="18715039" cy="7656152"/>
          </a:xfrm>
          <a:custGeom>
            <a:avLst/>
            <a:gdLst/>
            <a:ahLst/>
            <a:cxnLst/>
            <a:rect r="r" b="b" t="t" l="l"/>
            <a:pathLst>
              <a:path h="7656152" w="18715039">
                <a:moveTo>
                  <a:pt x="18715039" y="0"/>
                </a:moveTo>
                <a:lnTo>
                  <a:pt x="0" y="0"/>
                </a:lnTo>
                <a:lnTo>
                  <a:pt x="0" y="7656152"/>
                </a:lnTo>
                <a:lnTo>
                  <a:pt x="18715039" y="7656152"/>
                </a:lnTo>
                <a:lnTo>
                  <a:pt x="187150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05994" y="0"/>
            <a:ext cx="8285081" cy="10356352"/>
          </a:xfrm>
          <a:custGeom>
            <a:avLst/>
            <a:gdLst/>
            <a:ahLst/>
            <a:cxnLst/>
            <a:rect r="r" b="b" t="t" l="l"/>
            <a:pathLst>
              <a:path h="10356352" w="8285081">
                <a:moveTo>
                  <a:pt x="0" y="0"/>
                </a:moveTo>
                <a:lnTo>
                  <a:pt x="8285081" y="0"/>
                </a:lnTo>
                <a:lnTo>
                  <a:pt x="8285081" y="10356352"/>
                </a:lnTo>
                <a:lnTo>
                  <a:pt x="0" y="10356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6917" y="858076"/>
            <a:ext cx="13792383" cy="964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أهم أدوات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 السبب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(Kausale Konnektoren)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6917" y="4388434"/>
            <a:ext cx="13792383" cy="286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Wir fahren nicht ans Meer,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weil das Wetter schlecht ist.</a:t>
            </a:r>
          </a:p>
          <a:p>
            <a:pPr algn="l" marL="0" indent="0" lvl="0">
              <a:lnSpc>
                <a:spcPts val="7539"/>
              </a:lnSpc>
            </a:pP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ar-EG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  <a:rtl val="true"/>
              </a:rPr>
              <a:t>نحن لا نذهب إلى البحر لأن الطقس سيئ</a:t>
            </a:r>
            <a:r>
              <a:rPr lang="en-US" sz="5799">
                <a:solidFill>
                  <a:srgbClr val="0C1116"/>
                </a:solidFill>
                <a:latin typeface="Ubuntu"/>
                <a:ea typeface="Ubuntu"/>
                <a:cs typeface="Ubuntu"/>
                <a:sym typeface="Ubuntu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DAHBbH5904A</dc:identifier>
  <dcterms:modified xsi:type="dcterms:W3CDTF">2011-08-01T06:04:30Z</dcterms:modified>
  <cp:revision>1</cp:revision>
  <dc:title>Nebensatz kausal</dc:title>
</cp:coreProperties>
</file>