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6858000" cy="9144000"/>
  <p:embeddedFontLst>
    <p:embeddedFont>
      <p:font typeface="Coco Gothic Bold" charset="1" panose="00000000000000000000"/>
      <p:regular r:id="rId49"/>
    </p:embeddedFont>
    <p:embeddedFont>
      <p:font typeface="Poppins Light" charset="1" panose="00000400000000000000"/>
      <p:regular r:id="rId50"/>
    </p:embeddedFont>
    <p:embeddedFont>
      <p:font typeface="Poppins" charset="1" panose="0000050000000000000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4654" y="2456275"/>
            <a:ext cx="16230600" cy="177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PERSONALPRONOMEN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30629"/>
            <a:ext cx="7753301" cy="101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b="true" sz="74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NOMINATIV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47073" y="6164101"/>
            <a:ext cx="7753301" cy="193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b="true" sz="74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AKKUSATIV </a:t>
            </a:r>
          </a:p>
          <a:p>
            <a:pPr algn="ctr">
              <a:lnSpc>
                <a:spcPts val="72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931737" y="7944671"/>
            <a:ext cx="7753301" cy="101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b="true" sz="74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DATIV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81050"/>
            <a:ext cx="14646281" cy="713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27205" indent="-863603" lvl="1">
              <a:lnSpc>
                <a:spcPts val="11200"/>
              </a:lnSpc>
              <a:buFont typeface="Arial"/>
              <a:buChar char="•"/>
            </a:pPr>
            <a:r>
              <a:rPr lang="en-US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Nominativ = </a:t>
            </a:r>
            <a:r>
              <a:rPr lang="ar-EG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شكون دار الفعل</a:t>
            </a:r>
          </a:p>
          <a:p>
            <a:pPr algn="l" marL="1727205" indent="-863603" lvl="1">
              <a:lnSpc>
                <a:spcPts val="11200"/>
              </a:lnSpc>
              <a:buFont typeface="Arial"/>
              <a:buChar char="•"/>
            </a:pPr>
            <a:r>
              <a:rPr lang="en-US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Akkusativ = </a:t>
            </a:r>
            <a:r>
              <a:rPr lang="ar-EG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شكون وقع عليه الفعل</a:t>
            </a:r>
          </a:p>
          <a:p>
            <a:pPr algn="l" marL="1727205" indent="-863603" lvl="1">
              <a:lnSpc>
                <a:spcPts val="11200"/>
              </a:lnSpc>
              <a:buFont typeface="Arial"/>
              <a:buChar char="•"/>
            </a:pPr>
            <a:r>
              <a:rPr lang="en-US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Dativ = </a:t>
            </a:r>
            <a:r>
              <a:rPr lang="ar-EG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شكون تدار ليه الفعل</a:t>
            </a:r>
          </a:p>
          <a:p>
            <a:pPr algn="l">
              <a:lnSpc>
                <a:spcPts val="11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81050"/>
            <a:ext cx="1464628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Nominativ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33425"/>
            <a:ext cx="14646281" cy="330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9"/>
              </a:lnSpc>
            </a:pPr>
            <a:r>
              <a:rPr lang="en-US" sz="102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Ich lerne Deutsch</a:t>
            </a:r>
          </a:p>
          <a:p>
            <a:pPr algn="r" rtl="true" marL="842062" indent="-421031" lvl="1">
              <a:lnSpc>
                <a:spcPts val="5460"/>
              </a:lnSpc>
              <a:buFont typeface="Arial"/>
              <a:buChar char="•"/>
            </a:pPr>
            <a:r>
              <a:rPr lang="ar-EG" sz="39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أنا كنقرا الألمانية.</a:t>
            </a:r>
          </a:p>
          <a:p>
            <a:pPr algn="l">
              <a:lnSpc>
                <a:spcPts val="54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81050"/>
            <a:ext cx="14646281" cy="287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1200"/>
              </a:lnSpc>
            </a:pPr>
            <a:r>
              <a:rPr lang="en-US" sz="8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Der Mann arbeitet</a:t>
            </a:r>
          </a:p>
          <a:p>
            <a:pPr algn="r" rtl="true">
              <a:lnSpc>
                <a:spcPts val="5460"/>
              </a:lnSpc>
            </a:pPr>
            <a:r>
              <a:rPr lang="ar-EG" sz="39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الراجل كخدم.</a:t>
            </a:r>
          </a:p>
          <a:p>
            <a:pPr algn="l">
              <a:lnSpc>
                <a:spcPts val="54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33425"/>
            <a:ext cx="14646281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Akkusativ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33425"/>
            <a:ext cx="14646281" cy="258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Ich sehe dich.</a:t>
            </a:r>
          </a:p>
          <a:p>
            <a:pPr algn="r" rtl="true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كنشوفك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33425"/>
            <a:ext cx="14646281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3999"/>
              </a:lnSpc>
            </a:pPr>
            <a:r>
              <a:rPr lang="en-US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Dativ</a:t>
            </a:r>
            <a:r>
              <a:rPr lang="ar-EG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33425"/>
            <a:ext cx="14646281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3999"/>
              </a:lnSpc>
            </a:pPr>
            <a:r>
              <a:rPr lang="en-US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Ich spreche mit dem</a:t>
            </a:r>
            <a:r>
              <a:rPr lang="en-US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Freund</a:t>
            </a:r>
            <a:r>
              <a:rPr lang="ar-EG" sz="9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.</a:t>
            </a:r>
          </a:p>
          <a:p>
            <a:pPr algn="r" rtl="true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كنهدَر مع الصديق.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730654" y="-152400"/>
            <a:ext cx="14646281" cy="997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139"/>
              </a:lnSpc>
            </a:pP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</a:t>
            </a: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h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du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er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es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ihr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</a:t>
            </a:r>
          </a:p>
          <a:p>
            <a:pPr algn="l" rtl="true">
              <a:lnSpc>
                <a:spcPts val="7139"/>
              </a:lnSpc>
            </a:pPr>
            <a:r>
              <a:rPr lang="en-US" sz="50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</a:t>
            </a:r>
          </a:p>
          <a:p>
            <a:pPr algn="r" rtl="true">
              <a:lnSpc>
                <a:spcPts val="71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3142795"/>
            <a:ext cx="14646281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20160"/>
              </a:lnSpc>
            </a:pPr>
            <a:r>
              <a:rPr lang="en-US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Akk</a:t>
            </a:r>
            <a:r>
              <a:rPr lang="en-US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usativ</a:t>
            </a:r>
            <a:r>
              <a:rPr lang="ar-EG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-152400"/>
            <a:ext cx="14646281" cy="1028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419"/>
              </a:lnSpc>
            </a:pP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mich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dich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ihn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sie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uns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uch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sie</a:t>
            </a:r>
          </a:p>
          <a:p>
            <a:pPr algn="l" rtl="true">
              <a:lnSpc>
                <a:spcPts val="7419"/>
              </a:lnSpc>
            </a:pPr>
            <a:r>
              <a:rPr lang="en-US" sz="52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Sie</a:t>
            </a:r>
          </a:p>
          <a:p>
            <a:pPr algn="l" rtl="true">
              <a:lnSpc>
                <a:spcPts val="741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163300" y="3438826"/>
            <a:ext cx="14646281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20160"/>
              </a:lnSpc>
            </a:pPr>
            <a:r>
              <a:rPr lang="en-US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Dat</a:t>
            </a:r>
            <a:r>
              <a:rPr lang="en-US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ar-EG" sz="14400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0098"/>
            <a:ext cx="14646281" cy="105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559"/>
              </a:lnSpc>
            </a:pP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mir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dir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ihm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ihr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ihm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uns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euch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ihnen</a:t>
            </a:r>
          </a:p>
          <a:p>
            <a:pPr algn="l" rtl="true">
              <a:lnSpc>
                <a:spcPts val="7559"/>
              </a:lnSpc>
            </a:pPr>
            <a:r>
              <a:rPr lang="en-US" sz="53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Ihnen</a:t>
            </a:r>
          </a:p>
          <a:p>
            <a:pPr algn="l" rtl="true">
              <a:lnSpc>
                <a:spcPts val="75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781050"/>
            <a:ext cx="14646281" cy="476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2459"/>
              </a:lnSpc>
            </a:pPr>
            <a:r>
              <a:rPr lang="en-US" sz="8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8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h gebe dir das Buch</a:t>
            </a:r>
            <a:r>
              <a:rPr lang="ar-EG" sz="8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  <a:p>
            <a:pPr algn="l" rtl="true">
              <a:lnSpc>
                <a:spcPts val="12459"/>
              </a:lnSpc>
            </a:pPr>
          </a:p>
          <a:p>
            <a:pPr algn="l" rtl="true">
              <a:lnSpc>
                <a:spcPts val="124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489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6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h → Nominativ (who does the action)</a:t>
            </a:r>
          </a:p>
          <a:p>
            <a:pPr algn="l" rtl="true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dir → Dativ (to whom)</a:t>
            </a:r>
          </a:p>
          <a:p>
            <a:pPr algn="l" rtl="true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das Buch → Akkusativ (what)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Ich -mich - mir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du - dich - dir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er - ihn - ihm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- sie - ihr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- es - ihm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 - uns - uns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ihr - euch - euch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- sie - ihnen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Nom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inativ - Akkusativ - Dativ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432855"/>
            <a:ext cx="14646281" cy="123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- Sie - Ihnen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Ich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 gebe dir das Buch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سأعطيك الكتاب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Er sch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enkt ihr eine Blume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أعطاها زهرة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Wir zeig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en ihm den Weg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سنرشده إلى الطريق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Sie bri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ngt mir den Kaffee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ستحضر لي القهوة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275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Du erklärs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t uns die Aufgabe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  <a:p>
            <a:pPr algn="l" rtl="true">
              <a:lnSpc>
                <a:spcPts val="107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ستشرح لنا المهمة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275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Ich ka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ufe dir das Ticket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  <a:p>
            <a:pPr algn="l" rtl="true">
              <a:lnSpc>
                <a:spcPts val="107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سأشتري لك التذكرة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275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Er l</a:t>
            </a:r>
            <a:r>
              <a:rPr lang="en-US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</a:rPr>
              <a:t>eiht mir sein Auto</a:t>
            </a:r>
            <a:r>
              <a:rPr lang="ar-EG" sz="7699">
                <a:solidFill>
                  <a:srgbClr val="1A1B1D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</a:t>
            </a:r>
          </a:p>
          <a:p>
            <a:pPr algn="l" rtl="true">
              <a:lnSpc>
                <a:spcPts val="107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سيُعيرني ​​سيارته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275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 schicken ihnen die E-Mail.</a:t>
            </a:r>
          </a:p>
          <a:p>
            <a:pPr algn="l" rtl="true">
              <a:lnSpc>
                <a:spcPts val="107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سنرسل لهم البريد الإلكتروني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800100"/>
            <a:ext cx="14646281" cy="139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779"/>
              </a:lnSpc>
            </a:pPr>
            <a:r>
              <a:rPr lang="en-US" sz="76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Du gibst ihr das Geld.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3509055"/>
            <a:ext cx="1464628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ستعطيها المال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Ich sehe dich.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أنا أراك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Je te vois.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I see you.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Du hörst mich.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أنت تسمعني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Tu m’entends.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You hear me.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findet ihn.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هي تجده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Elle le trouve.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She finds him.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 treffen euch.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نحن نلتقي بكم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Nous vous rencontrons.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We meet you.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Wir treffen euch.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نحن نلتقي بكم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Nous vous rencontrons.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We meet you.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Ihr versteht uns.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أنتم تفهموننا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Vous nous comprenez.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You understand us.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besuchen sie.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4286136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هم يزورونهم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Ils les visitent.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They visit them.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Du gibst mir das Buch.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5029200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أنت تعطيني الكتاب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Tu me donnes le livre.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You give me the book.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Ihr erklärt uns die Regel.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5029200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أنتم تشرحون لنا القاعدة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Vous nous expliquez la règle.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You explain the rule to us.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18" y="474099"/>
            <a:ext cx="1671369" cy="9338801"/>
            <a:chOff x="0" y="0"/>
            <a:chExt cx="258939" cy="1446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39" cy="1446825"/>
            </a:xfrm>
            <a:custGeom>
              <a:avLst/>
              <a:gdLst/>
              <a:ahLst/>
              <a:cxnLst/>
              <a:rect r="r" b="b" t="t" l="l"/>
              <a:pathLst>
                <a:path h="1446825" w="258939">
                  <a:moveTo>
                    <a:pt x="0" y="0"/>
                  </a:moveTo>
                  <a:lnTo>
                    <a:pt x="258939" y="0"/>
                  </a:lnTo>
                  <a:lnTo>
                    <a:pt x="258939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-136134" t="0" r="-13613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1A1B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25728" y="1019175"/>
            <a:ext cx="638859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13019" y="676275"/>
            <a:ext cx="14646281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Sie schreiben ihnen eine E-Mail.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019" y="5029200"/>
            <a:ext cx="14646281" cy="212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ar-EG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  <a:rtl val="true"/>
              </a:rPr>
              <a:t>هم يكتبون لهم رسالة إلكترونية</a:t>
            </a: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Ils leur écrivent un e-mail.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They write them an email.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DAG_iTN8FPw</dc:identifier>
  <dcterms:modified xsi:type="dcterms:W3CDTF">2011-08-01T06:04:30Z</dcterms:modified>
  <cp:revision>1</cp:revision>
  <dc:title>Personalpronomen</dc:title>
</cp:coreProperties>
</file>