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Montserrat Ultra-Bold" charset="1" panose="00000900000000000000"/>
      <p:regular r:id="rId36"/>
    </p:embeddedFont>
    <p:embeddedFont>
      <p:font typeface="Montserrat" charset="1" panose="0000050000000000000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8100000">
            <a:off x="14324902" y="1469072"/>
            <a:ext cx="4879847" cy="15755995"/>
          </a:xfrm>
          <a:custGeom>
            <a:avLst/>
            <a:gdLst/>
            <a:ahLst/>
            <a:cxnLst/>
            <a:rect r="r" b="b" t="t" l="l"/>
            <a:pathLst>
              <a:path h="15755995" w="4879847">
                <a:moveTo>
                  <a:pt x="0" y="0"/>
                </a:moveTo>
                <a:lnTo>
                  <a:pt x="4879847" y="0"/>
                </a:lnTo>
                <a:lnTo>
                  <a:pt x="4879847" y="15755996"/>
                </a:lnTo>
                <a:lnTo>
                  <a:pt x="0" y="157559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800000">
            <a:off x="8992690" y="1539949"/>
            <a:ext cx="9336114" cy="9336114"/>
          </a:xfrm>
          <a:custGeom>
            <a:avLst/>
            <a:gdLst/>
            <a:ahLst/>
            <a:cxnLst/>
            <a:rect r="r" b="b" t="t" l="l"/>
            <a:pathLst>
              <a:path h="9336114" w="9336114">
                <a:moveTo>
                  <a:pt x="0" y="0"/>
                </a:moveTo>
                <a:lnTo>
                  <a:pt x="9336113" y="0"/>
                </a:lnTo>
                <a:lnTo>
                  <a:pt x="9336113" y="9336114"/>
                </a:lnTo>
                <a:lnTo>
                  <a:pt x="0" y="93361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431325" y="2158783"/>
            <a:ext cx="15597676" cy="3609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45"/>
              </a:lnSpc>
            </a:pPr>
            <a:r>
              <a:rPr lang="en-US" sz="11871" spc="427" b="true">
                <a:solidFill>
                  <a:srgbClr val="2A2E3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Positiv Komparativ  Superlativ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2700000">
            <a:off x="521329" y="-3317944"/>
            <a:ext cx="2336254" cy="7543272"/>
          </a:xfrm>
          <a:custGeom>
            <a:avLst/>
            <a:gdLst/>
            <a:ahLst/>
            <a:cxnLst/>
            <a:rect r="r" b="b" t="t" l="l"/>
            <a:pathLst>
              <a:path h="7543272" w="2336254">
                <a:moveTo>
                  <a:pt x="0" y="0"/>
                </a:moveTo>
                <a:lnTo>
                  <a:pt x="2336254" y="0"/>
                </a:lnTo>
                <a:lnTo>
                  <a:pt x="2336254" y="7543273"/>
                </a:lnTo>
                <a:lnTo>
                  <a:pt x="0" y="75432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5400000">
            <a:off x="-434583" y="-78920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2650751"/>
            <a:ext cx="11757909" cy="4081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19"/>
              </a:lnSpc>
              <a:spcBef>
                <a:spcPct val="0"/>
              </a:spcBef>
            </a:pPr>
            <a:r>
              <a:rPr lang="en-US" sz="5799" spc="26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k</a:t>
            </a: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lein = </a:t>
            </a:r>
            <a:r>
              <a:rPr lang="ar-EG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صغير</a:t>
            </a:r>
          </a:p>
          <a:p>
            <a:pPr algn="l" marL="0" indent="0" lvl="0">
              <a:lnSpc>
                <a:spcPts val="8119"/>
              </a:lnSpc>
              <a:spcBef>
                <a:spcPct val="0"/>
              </a:spcBef>
            </a:pP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groß = </a:t>
            </a:r>
            <a:r>
              <a:rPr lang="ar-EG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كبير</a:t>
            </a:r>
          </a:p>
          <a:p>
            <a:pPr algn="l" marL="0" indent="0" lvl="0">
              <a:lnSpc>
                <a:spcPts val="8119"/>
              </a:lnSpc>
              <a:spcBef>
                <a:spcPct val="0"/>
              </a:spcBef>
            </a:pP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schnell = </a:t>
            </a:r>
            <a:r>
              <a:rPr lang="ar-EG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سريع</a:t>
            </a:r>
          </a:p>
          <a:p>
            <a:pPr algn="l" marL="0" indent="0" lvl="0">
              <a:lnSpc>
                <a:spcPts val="8119"/>
              </a:lnSpc>
              <a:spcBef>
                <a:spcPct val="0"/>
              </a:spcBef>
            </a:pP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alt = </a:t>
            </a:r>
            <a:r>
              <a:rPr lang="ar-EG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قديم / كبير في السن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3679451"/>
            <a:ext cx="11757909" cy="202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119"/>
              </a:lnSpc>
              <a:spcBef>
                <a:spcPct val="0"/>
              </a:spcBef>
            </a:pPr>
            <a:r>
              <a:rPr lang="en-US" sz="5799" spc="26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Das</a:t>
            </a: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Auto ist schnell.</a:t>
            </a:r>
          </a:p>
          <a:p>
            <a:pPr algn="l" marL="0" indent="0" lvl="0">
              <a:lnSpc>
                <a:spcPts val="8119"/>
              </a:lnSpc>
              <a:spcBef>
                <a:spcPct val="0"/>
              </a:spcBef>
            </a:pP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السيارة سريعة</a:t>
            </a: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593351"/>
            <a:ext cx="11757909" cy="8196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8119"/>
              </a:lnSpc>
            </a:pPr>
            <a:r>
              <a:rPr lang="ar-EG" sz="5799" spc="26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القاعدة:</a:t>
            </a:r>
          </a:p>
          <a:p>
            <a:pPr algn="l" marL="0" indent="0" lvl="0">
              <a:lnSpc>
                <a:spcPts val="8119"/>
              </a:lnSpc>
              <a:spcBef>
                <a:spcPct val="0"/>
              </a:spcBef>
            </a:pP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Adjektiv + er</a:t>
            </a:r>
          </a:p>
          <a:p>
            <a:pPr algn="l" marL="0" indent="0" lvl="0">
              <a:lnSpc>
                <a:spcPts val="811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8119"/>
              </a:lnSpc>
              <a:spcBef>
                <a:spcPct val="0"/>
              </a:spcBef>
            </a:pP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klein → kleiner (</a:t>
            </a:r>
            <a:r>
              <a:rPr lang="ar-EG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أصغر</a:t>
            </a: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algn="l" marL="0" indent="0" lvl="0">
              <a:lnSpc>
                <a:spcPts val="8119"/>
              </a:lnSpc>
              <a:spcBef>
                <a:spcPct val="0"/>
              </a:spcBef>
            </a:pP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groß → größer (</a:t>
            </a:r>
            <a:r>
              <a:rPr lang="ar-EG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أكبر</a:t>
            </a: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algn="l" marL="0" indent="0" lvl="0">
              <a:lnSpc>
                <a:spcPts val="8119"/>
              </a:lnSpc>
              <a:spcBef>
                <a:spcPct val="0"/>
              </a:spcBef>
            </a:pP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schnell → schneller (</a:t>
            </a:r>
            <a:r>
              <a:rPr lang="ar-EG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أسرع</a:t>
            </a: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algn="l" marL="0" indent="0" lvl="0">
              <a:lnSpc>
                <a:spcPts val="8119"/>
              </a:lnSpc>
              <a:spcBef>
                <a:spcPct val="0"/>
              </a:spcBef>
            </a:pP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alt → älter (</a:t>
            </a:r>
            <a:r>
              <a:rPr lang="ar-EG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أكبر سنًا</a:t>
            </a: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algn="l" marL="0" indent="0" lvl="0">
              <a:lnSpc>
                <a:spcPts val="8119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3165101"/>
            <a:ext cx="11757909" cy="3053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8119"/>
              </a:lnSpc>
              <a:spcBef>
                <a:spcPct val="0"/>
              </a:spcBef>
            </a:pPr>
            <a:r>
              <a:rPr lang="en-US" sz="5799" spc="26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ein Auto ist schneller als dein Auto</a:t>
            </a:r>
            <a:r>
              <a:rPr lang="ar-EG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.</a:t>
            </a:r>
          </a:p>
          <a:p>
            <a:pPr algn="l" marL="0" indent="0" lvl="0">
              <a:lnSpc>
                <a:spcPts val="8119"/>
              </a:lnSpc>
              <a:spcBef>
                <a:spcPct val="0"/>
              </a:spcBef>
            </a:pP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سيارتي أسرع من سيارتك</a:t>
            </a: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3165101"/>
            <a:ext cx="11757909" cy="3053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8119"/>
              </a:lnSpc>
              <a:spcBef>
                <a:spcPct val="0"/>
              </a:spcBef>
            </a:pPr>
            <a:r>
              <a:rPr lang="en-US" sz="5799" spc="26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H</a:t>
            </a: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eute ist es kälter als gestern</a:t>
            </a:r>
            <a:r>
              <a:rPr lang="ar-EG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.</a:t>
            </a:r>
          </a:p>
          <a:p>
            <a:pPr algn="l" marL="0" indent="0" lvl="0">
              <a:lnSpc>
                <a:spcPts val="8119"/>
              </a:lnSpc>
              <a:spcBef>
                <a:spcPct val="0"/>
              </a:spcBef>
            </a:pP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اليوم أبرد من أمس</a:t>
            </a: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1107701"/>
            <a:ext cx="11757909" cy="716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8119"/>
              </a:lnSpc>
            </a:pPr>
            <a:r>
              <a:rPr lang="ar-EG" sz="5799" spc="26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القاعدة:</a:t>
            </a:r>
          </a:p>
          <a:p>
            <a:pPr algn="r" rtl="true" marL="0" indent="0" lvl="0">
              <a:lnSpc>
                <a:spcPts val="8119"/>
              </a:lnSpc>
              <a:spcBef>
                <a:spcPct val="0"/>
              </a:spcBef>
            </a:pPr>
            <a:r>
              <a:rPr lang="ar-EG" sz="5799" spc="26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</a:t>
            </a:r>
            <a:r>
              <a:rPr lang="en-US" sz="5799" spc="26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am + Adj</a:t>
            </a: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ektiv + sten</a:t>
            </a:r>
          </a:p>
          <a:p>
            <a:pPr algn="r" rtl="true" marL="0" indent="0" lvl="0">
              <a:lnSpc>
                <a:spcPts val="8119"/>
              </a:lnSpc>
              <a:spcBef>
                <a:spcPct val="0"/>
              </a:spcBef>
            </a:pP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klein → am kleinsten</a:t>
            </a:r>
          </a:p>
          <a:p>
            <a:pPr algn="r" rtl="true" marL="0" indent="0" lvl="0">
              <a:lnSpc>
                <a:spcPts val="8119"/>
              </a:lnSpc>
              <a:spcBef>
                <a:spcPct val="0"/>
              </a:spcBef>
            </a:pPr>
            <a:r>
              <a:rPr lang="ar-EG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</a:t>
            </a: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groß → am größten</a:t>
            </a:r>
          </a:p>
          <a:p>
            <a:pPr algn="r" rtl="true" marL="0" indent="0" lvl="0">
              <a:lnSpc>
                <a:spcPts val="8119"/>
              </a:lnSpc>
              <a:spcBef>
                <a:spcPct val="0"/>
              </a:spcBef>
            </a:pPr>
            <a:r>
              <a:rPr lang="ar-EG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</a:t>
            </a: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schnell → am schnellsten</a:t>
            </a:r>
          </a:p>
          <a:p>
            <a:pPr algn="r" rtl="true" marL="0" indent="0" lvl="0">
              <a:lnSpc>
                <a:spcPts val="8119"/>
              </a:lnSpc>
              <a:spcBef>
                <a:spcPct val="0"/>
              </a:spcBef>
            </a:pPr>
            <a:r>
              <a:rPr lang="ar-EG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</a:t>
            </a: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alt → am ältesten</a:t>
            </a:r>
          </a:p>
          <a:p>
            <a:pPr algn="l" marL="0" indent="0" lvl="0">
              <a:lnSpc>
                <a:spcPts val="8119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2136401"/>
            <a:ext cx="11757909" cy="51104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0" indent="0" lvl="0">
              <a:lnSpc>
                <a:spcPts val="8119"/>
              </a:lnSpc>
              <a:spcBef>
                <a:spcPct val="0"/>
              </a:spcBef>
            </a:pPr>
            <a:r>
              <a:rPr lang="en-US" sz="5799" spc="26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-US" sz="5799" spc="26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 ist das größte Haus</a:t>
            </a:r>
            <a:r>
              <a:rPr lang="ar-EG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.</a:t>
            </a:r>
          </a:p>
          <a:p>
            <a:pPr algn="r" rtl="true" marL="0" indent="0" lvl="0">
              <a:lnSpc>
                <a:spcPts val="8119"/>
              </a:lnSpc>
              <a:spcBef>
                <a:spcPct val="0"/>
              </a:spcBef>
            </a:pPr>
            <a:r>
              <a:rPr lang="ar-EG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هذا أكبر بيت.</a:t>
            </a:r>
          </a:p>
          <a:p>
            <a:pPr algn="r" rtl="true" marL="0" indent="0" lvl="0">
              <a:lnSpc>
                <a:spcPts val="8119"/>
              </a:lnSpc>
              <a:spcBef>
                <a:spcPct val="0"/>
              </a:spcBef>
            </a:pP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Heute ist es am kältesten</a:t>
            </a:r>
            <a:r>
              <a:rPr lang="ar-EG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.</a:t>
            </a:r>
          </a:p>
          <a:p>
            <a:pPr algn="r" rtl="true" marL="0" indent="0" lvl="0">
              <a:lnSpc>
                <a:spcPts val="8119"/>
              </a:lnSpc>
              <a:spcBef>
                <a:spcPct val="0"/>
              </a:spcBef>
            </a:pPr>
            <a:r>
              <a:rPr lang="ar-EG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اليوم هو الأبرد.</a:t>
            </a:r>
          </a:p>
          <a:p>
            <a:pPr algn="l" marL="0" indent="0" lvl="0">
              <a:lnSpc>
                <a:spcPts val="8119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1107701"/>
            <a:ext cx="11757909" cy="716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1252203" indent="-626102" lvl="1">
              <a:lnSpc>
                <a:spcPts val="8119"/>
              </a:lnSpc>
              <a:spcBef>
                <a:spcPct val="0"/>
              </a:spcBef>
              <a:buFont typeface="Arial"/>
              <a:buChar char="•"/>
            </a:pPr>
            <a:r>
              <a:rPr lang="en-US" sz="5799" spc="26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Ali</a:t>
            </a: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ist groß</a:t>
            </a:r>
            <a:r>
              <a:rPr lang="ar-EG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.</a:t>
            </a:r>
          </a:p>
          <a:p>
            <a:pPr algn="r" rtl="true" marL="1252203" indent="-626102" lvl="1">
              <a:lnSpc>
                <a:spcPts val="8119"/>
              </a:lnSpc>
              <a:spcBef>
                <a:spcPct val="0"/>
              </a:spcBef>
              <a:buFont typeface="Arial"/>
              <a:buChar char="•"/>
            </a:pPr>
            <a:r>
              <a:rPr lang="ar-EG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علي طويل.</a:t>
            </a:r>
          </a:p>
          <a:p>
            <a:pPr algn="r" rtl="true" marL="1252203" indent="-626102" lvl="1">
              <a:lnSpc>
                <a:spcPts val="8119"/>
              </a:lnSpc>
              <a:spcBef>
                <a:spcPct val="0"/>
              </a:spcBef>
              <a:buFont typeface="Arial"/>
              <a:buChar char="•"/>
            </a:pP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Omar ist größer als Ali</a:t>
            </a:r>
            <a:r>
              <a:rPr lang="ar-EG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.</a:t>
            </a:r>
          </a:p>
          <a:p>
            <a:pPr algn="r" rtl="true" marL="1252203" indent="-626102" lvl="1">
              <a:lnSpc>
                <a:spcPts val="8119"/>
              </a:lnSpc>
              <a:spcBef>
                <a:spcPct val="0"/>
              </a:spcBef>
              <a:buFont typeface="Arial"/>
              <a:buChar char="•"/>
            </a:pPr>
            <a:r>
              <a:rPr lang="ar-EG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عمر أطول من علي.</a:t>
            </a:r>
          </a:p>
          <a:p>
            <a:pPr algn="r" rtl="true" marL="1252203" indent="-626102" lvl="1">
              <a:lnSpc>
                <a:spcPts val="8119"/>
              </a:lnSpc>
              <a:spcBef>
                <a:spcPct val="0"/>
              </a:spcBef>
              <a:buFont typeface="Arial"/>
              <a:buChar char="•"/>
            </a:pP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Ahm</a:t>
            </a: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ed ist am größten</a:t>
            </a:r>
            <a:r>
              <a:rPr lang="ar-EG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.</a:t>
            </a:r>
          </a:p>
          <a:p>
            <a:pPr algn="r" rtl="true" marL="1252203" indent="-626102" lvl="1">
              <a:lnSpc>
                <a:spcPts val="8119"/>
              </a:lnSpc>
              <a:spcBef>
                <a:spcPct val="0"/>
              </a:spcBef>
              <a:buFont typeface="Arial"/>
              <a:buChar char="•"/>
            </a:pPr>
            <a:r>
              <a:rPr lang="ar-EG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أحمد هو الأطول.</a:t>
            </a:r>
          </a:p>
          <a:p>
            <a:pPr algn="l" marL="0" indent="0" lvl="0">
              <a:lnSpc>
                <a:spcPts val="8119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3679451"/>
            <a:ext cx="11757909" cy="202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1252203" indent="-626102" lvl="1">
              <a:lnSpc>
                <a:spcPts val="8119"/>
              </a:lnSpc>
              <a:spcBef>
                <a:spcPct val="0"/>
              </a:spcBef>
              <a:buFont typeface="Arial"/>
              <a:buChar char="•"/>
            </a:pPr>
            <a:r>
              <a:rPr lang="en-US" sz="5799" spc="26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gu</a:t>
            </a: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 → besser → am besten</a:t>
            </a:r>
          </a:p>
          <a:p>
            <a:pPr algn="l" marL="0" indent="0" lvl="0">
              <a:lnSpc>
                <a:spcPts val="8119"/>
              </a:lnSpc>
              <a:spcBef>
                <a:spcPct val="0"/>
              </a:spcBef>
            </a:pP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جيد → أفضل → الأفضل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3679451"/>
            <a:ext cx="11757909" cy="2024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 marL="1252203" indent="-626102" lvl="1">
              <a:lnSpc>
                <a:spcPts val="8119"/>
              </a:lnSpc>
              <a:spcBef>
                <a:spcPct val="0"/>
              </a:spcBef>
              <a:buFont typeface="Arial"/>
              <a:buChar char="•"/>
            </a:pPr>
            <a:r>
              <a:rPr lang="en-US" sz="5799" spc="26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viel</a:t>
            </a: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→ mehr → am meisten</a:t>
            </a:r>
          </a:p>
          <a:p>
            <a:pPr algn="l" marL="0" indent="0" lvl="0">
              <a:lnSpc>
                <a:spcPts val="8119"/>
              </a:lnSpc>
              <a:spcBef>
                <a:spcPct val="0"/>
              </a:spcBef>
            </a:pP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كثير → أكثر → الأكثر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3165101"/>
            <a:ext cx="12497986" cy="3053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 marL="1252203" indent="-626102" lvl="1">
              <a:lnSpc>
                <a:spcPts val="8119"/>
              </a:lnSpc>
              <a:spcBef>
                <a:spcPct val="0"/>
              </a:spcBef>
              <a:buFont typeface="Arial"/>
              <a:buChar char="•"/>
            </a:pPr>
            <a:r>
              <a:rPr lang="en-US" sz="5799" spc="260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Deutsch</a:t>
            </a: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ist besser als Englisch</a:t>
            </a:r>
            <a:r>
              <a:rPr lang="ar-EG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.</a:t>
            </a:r>
          </a:p>
          <a:p>
            <a:pPr algn="ctr" marL="0" indent="0" lvl="0">
              <a:lnSpc>
                <a:spcPts val="8119"/>
              </a:lnSpc>
              <a:spcBef>
                <a:spcPct val="0"/>
              </a:spcBef>
            </a:pP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الألمانية أفضل من الإنجليزية</a:t>
            </a:r>
            <a:r>
              <a:rPr lang="en-US" sz="5799" spc="260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1068069"/>
            <a:ext cx="12497986" cy="8065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993130" indent="-496565" lvl="1">
              <a:lnSpc>
                <a:spcPts val="6439"/>
              </a:lnSpc>
              <a:buFont typeface="Arial"/>
              <a:buChar char="•"/>
            </a:pP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gut → besser → am besten</a:t>
            </a:r>
          </a:p>
          <a:p>
            <a:pPr algn="l" rtl="true" marL="993130" indent="-496565" lvl="1">
              <a:lnSpc>
                <a:spcPts val="6439"/>
              </a:lnSpc>
              <a:buFont typeface="Arial"/>
              <a:buChar char="•"/>
            </a:pPr>
            <a:r>
              <a:rPr lang="ar-EG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(جيد → أفضل → الأفضل)</a:t>
            </a:r>
          </a:p>
          <a:p>
            <a:pPr algn="l" rtl="true" marL="993130" indent="-496565" lvl="1">
              <a:lnSpc>
                <a:spcPts val="6439"/>
              </a:lnSpc>
              <a:buFont typeface="Arial"/>
              <a:buChar char="•"/>
            </a:pP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Das Essen ist gut</a:t>
            </a:r>
            <a:r>
              <a:rPr lang="ar-EG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.</a:t>
            </a:r>
          </a:p>
          <a:p>
            <a:pPr algn="l" rtl="true" marL="993130" indent="-496565" lvl="1">
              <a:lnSpc>
                <a:spcPts val="6439"/>
              </a:lnSpc>
              <a:buFont typeface="Arial"/>
              <a:buChar char="•"/>
            </a:pPr>
            <a:r>
              <a:rPr lang="ar-EG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الطعام جيد.</a:t>
            </a:r>
          </a:p>
          <a:p>
            <a:pPr algn="l" rtl="true" marL="993130" indent="-496565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Das Essen</a:t>
            </a:r>
            <a:r>
              <a:rPr lang="en-US" sz="4599" spc="206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ist besser als gestern</a:t>
            </a:r>
            <a:r>
              <a:rPr lang="ar-EG" sz="4599" spc="206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.</a:t>
            </a:r>
          </a:p>
          <a:p>
            <a:pPr algn="l" rtl="true" marL="993130" indent="-496565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ar-EG" sz="4599" spc="206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الطعام أفضل من أمس.</a:t>
            </a:r>
          </a:p>
          <a:p>
            <a:pPr algn="l" rtl="true" marL="993130" indent="-496565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 spc="206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Das Essen ist am besten im Restaurant</a:t>
            </a:r>
            <a:r>
              <a:rPr lang="ar-EG" sz="4599" spc="206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.</a:t>
            </a:r>
          </a:p>
          <a:p>
            <a:pPr algn="l" rtl="true" marL="993130" indent="-496565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ar-EG" sz="4599" spc="206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الطعام هو الأفضل في المطعم.</a:t>
            </a:r>
          </a:p>
          <a:p>
            <a:pPr algn="ctr" marL="0" indent="0" lvl="0">
              <a:lnSpc>
                <a:spcPts val="6439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1877694"/>
            <a:ext cx="12497986" cy="6445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993130" indent="-496565" lvl="1">
              <a:lnSpc>
                <a:spcPts val="6439"/>
              </a:lnSpc>
              <a:buFont typeface="Arial"/>
              <a:buChar char="•"/>
            </a:pP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Mein Deutsch ist gut.</a:t>
            </a:r>
          </a:p>
          <a:p>
            <a:pPr algn="r" marL="993130" indent="-496565" lvl="1">
              <a:lnSpc>
                <a:spcPts val="6439"/>
              </a:lnSpc>
              <a:buFont typeface="Arial"/>
              <a:buChar char="•"/>
            </a:pP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لغتي الألمانية جيدة</a:t>
            </a: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r" marL="993130" indent="-496565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Mein </a:t>
            </a: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Deutsch</a:t>
            </a:r>
            <a:r>
              <a:rPr lang="en-US" sz="4599" spc="206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ist besser als dein Deutsch.</a:t>
            </a:r>
          </a:p>
          <a:p>
            <a:pPr algn="r" marL="993130" indent="-496565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 spc="206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599" spc="206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لغتي الألمانية أفضل من لغتك الألمانية</a:t>
            </a:r>
            <a:r>
              <a:rPr lang="en-US" sz="4599" spc="206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r" marL="993130" indent="-496565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 spc="206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M</a:t>
            </a:r>
            <a:r>
              <a:rPr lang="en-US" sz="4599" spc="206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ein Deutsch ist am besten.</a:t>
            </a:r>
          </a:p>
          <a:p>
            <a:pPr algn="r" marL="993130" indent="-496565" lvl="1">
              <a:lnSpc>
                <a:spcPts val="6439"/>
              </a:lnSpc>
              <a:spcBef>
                <a:spcPct val="0"/>
              </a:spcBef>
              <a:buFont typeface="Arial"/>
              <a:buChar char="•"/>
            </a:pPr>
            <a:r>
              <a:rPr lang="en-US" sz="4599" spc="206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599" spc="206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لغتي الألمانية هي الأفضل</a:t>
            </a:r>
            <a:r>
              <a:rPr lang="en-US" sz="4599" spc="206" strike="noStrike" u="none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ctr" marL="0" indent="0" lvl="0">
              <a:lnSpc>
                <a:spcPts val="6439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1877694"/>
            <a:ext cx="12497986" cy="6445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93130" indent="-496565" lvl="1">
              <a:lnSpc>
                <a:spcPts val="6439"/>
              </a:lnSpc>
              <a:buFont typeface="Arial"/>
              <a:buChar char="•"/>
            </a:pP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Der Film ist gut.</a:t>
            </a:r>
          </a:p>
          <a:p>
            <a:pPr algn="ctr" marL="993130" indent="-496565" lvl="1">
              <a:lnSpc>
                <a:spcPts val="6439"/>
              </a:lnSpc>
              <a:buFont typeface="Arial"/>
              <a:buChar char="•"/>
            </a:pP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الفيلم جيد</a:t>
            </a: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ctr" marL="993130" indent="-496565" lvl="1">
              <a:lnSpc>
                <a:spcPts val="6439"/>
              </a:lnSpc>
              <a:buFont typeface="Arial"/>
              <a:buChar char="•"/>
            </a:pP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Dieser Film ist besser als der andere.</a:t>
            </a:r>
          </a:p>
          <a:p>
            <a:pPr algn="ctr" marL="993130" indent="-496565" lvl="1">
              <a:lnSpc>
                <a:spcPts val="6439"/>
              </a:lnSpc>
              <a:buFont typeface="Arial"/>
              <a:buChar char="•"/>
            </a:pP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هذا الفيلم أفضل من الآخر</a:t>
            </a: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ctr" marL="993130" indent="-496565" lvl="1">
              <a:lnSpc>
                <a:spcPts val="6439"/>
              </a:lnSpc>
              <a:buFont typeface="Arial"/>
              <a:buChar char="•"/>
            </a:pP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Das ist der beste Film.</a:t>
            </a:r>
          </a:p>
          <a:p>
            <a:pPr algn="ctr" marL="993130" indent="-496565" lvl="1">
              <a:lnSpc>
                <a:spcPts val="6439"/>
              </a:lnSpc>
              <a:buFont typeface="Arial"/>
              <a:buChar char="•"/>
            </a:pP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هذا هو أفضل فيلم</a:t>
            </a: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ctr" marL="0" indent="0" lvl="0">
              <a:lnSpc>
                <a:spcPts val="6439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1472882"/>
            <a:ext cx="12497986" cy="7255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93130" indent="-496565" lvl="1">
              <a:lnSpc>
                <a:spcPts val="6439"/>
              </a:lnSpc>
              <a:buFont typeface="Arial"/>
              <a:buChar char="•"/>
            </a:pP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viel → mehr → am meisten</a:t>
            </a:r>
          </a:p>
          <a:p>
            <a:pPr algn="ctr" marL="993130" indent="-496565" lvl="1">
              <a:lnSpc>
                <a:spcPts val="6439"/>
              </a:lnSpc>
              <a:buFont typeface="Arial"/>
              <a:buChar char="•"/>
            </a:pP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ar-EG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كثير → أكثر → الأكثر</a:t>
            </a: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algn="ctr" marL="993130" indent="-496565" lvl="1">
              <a:lnSpc>
                <a:spcPts val="6439"/>
              </a:lnSpc>
              <a:buFont typeface="Arial"/>
              <a:buChar char="•"/>
            </a:pP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Ich habe viel Zeit.</a:t>
            </a:r>
          </a:p>
          <a:p>
            <a:pPr algn="ctr" marL="993130" indent="-496565" lvl="1">
              <a:lnSpc>
                <a:spcPts val="6439"/>
              </a:lnSpc>
              <a:buFont typeface="Arial"/>
              <a:buChar char="•"/>
            </a:pP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لدي وقت كثير</a:t>
            </a: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ctr" marL="993130" indent="-496565" lvl="1">
              <a:lnSpc>
                <a:spcPts val="6439"/>
              </a:lnSpc>
              <a:buFont typeface="Arial"/>
              <a:buChar char="•"/>
            </a:pP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Ich hab</a:t>
            </a: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 mehr Zeit als du.</a:t>
            </a:r>
          </a:p>
          <a:p>
            <a:pPr algn="ctr" marL="993130" indent="-496565" lvl="1">
              <a:lnSpc>
                <a:spcPts val="6439"/>
              </a:lnSpc>
              <a:buFont typeface="Arial"/>
              <a:buChar char="•"/>
            </a:pP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لدي وقت أكثر منك</a:t>
            </a: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ctr" marL="993130" indent="-496565" lvl="1">
              <a:lnSpc>
                <a:spcPts val="6439"/>
              </a:lnSpc>
              <a:buFont typeface="Arial"/>
              <a:buChar char="•"/>
            </a:pP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Ich</a:t>
            </a: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habe am meisten Zeit.</a:t>
            </a:r>
          </a:p>
          <a:p>
            <a:pPr algn="ctr" marL="993130" indent="-496565" lvl="1">
              <a:lnSpc>
                <a:spcPts val="6439"/>
              </a:lnSpc>
              <a:buFont typeface="Arial"/>
              <a:buChar char="•"/>
            </a:pP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لدي أكبر وقت / أكثر وقت</a:t>
            </a: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ctr" marL="0" indent="0" lvl="0">
              <a:lnSpc>
                <a:spcPts val="6439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2282507"/>
            <a:ext cx="12497986" cy="5636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93130" indent="-496565" lvl="1">
              <a:lnSpc>
                <a:spcPts val="6439"/>
              </a:lnSpc>
              <a:buFont typeface="Arial"/>
              <a:buChar char="•"/>
            </a:pP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Er arbeitet viel.</a:t>
            </a:r>
          </a:p>
          <a:p>
            <a:pPr algn="ctr" marL="993130" indent="-496565" lvl="1">
              <a:lnSpc>
                <a:spcPts val="6439"/>
              </a:lnSpc>
              <a:buFont typeface="Arial"/>
              <a:buChar char="•"/>
            </a:pP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هو يعمل كثيرًا</a:t>
            </a: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ctr" marL="993130" indent="-496565" lvl="1">
              <a:lnSpc>
                <a:spcPts val="6439"/>
              </a:lnSpc>
              <a:buFont typeface="Arial"/>
              <a:buChar char="•"/>
            </a:pP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Er arb</a:t>
            </a: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eitet mehr als ich.</a:t>
            </a:r>
          </a:p>
          <a:p>
            <a:pPr algn="ctr" marL="993130" indent="-496565" lvl="1">
              <a:lnSpc>
                <a:spcPts val="6439"/>
              </a:lnSpc>
              <a:buFont typeface="Arial"/>
              <a:buChar char="•"/>
            </a:pP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هو يعمل أكثر مني</a:t>
            </a: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ctr" marL="993130" indent="-496565" lvl="1">
              <a:lnSpc>
                <a:spcPts val="6439"/>
              </a:lnSpc>
              <a:buFont typeface="Arial"/>
              <a:buChar char="•"/>
            </a:pP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Er</a:t>
            </a: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arbeitet am meisten.</a:t>
            </a:r>
          </a:p>
          <a:p>
            <a:pPr algn="ctr" marL="993130" indent="-496565" lvl="1">
              <a:lnSpc>
                <a:spcPts val="6439"/>
              </a:lnSpc>
              <a:buFont typeface="Arial"/>
              <a:buChar char="•"/>
            </a:pP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هو يعمل أكثر الجميع</a:t>
            </a: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ctr" marL="0" indent="0" lvl="0">
              <a:lnSpc>
                <a:spcPts val="6439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1877694"/>
            <a:ext cx="12497986" cy="6445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993130" indent="-496565" lvl="1">
              <a:lnSpc>
                <a:spcPts val="6439"/>
              </a:lnSpc>
              <a:buFont typeface="Arial"/>
              <a:buChar char="•"/>
            </a:pP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Wir lernen viel Deutsch.</a:t>
            </a:r>
          </a:p>
          <a:p>
            <a:pPr algn="ctr" marL="993130" indent="-496565" lvl="1">
              <a:lnSpc>
                <a:spcPts val="6439"/>
              </a:lnSpc>
              <a:buFont typeface="Arial"/>
              <a:buChar char="•"/>
            </a:pP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نحن نتعلم الألمانية كثيرًا</a:t>
            </a: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ctr" marL="993130" indent="-496565" lvl="1">
              <a:lnSpc>
                <a:spcPts val="6439"/>
              </a:lnSpc>
              <a:buFont typeface="Arial"/>
              <a:buChar char="•"/>
            </a:pP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Wir lernen mehr Deutsch als früher.</a:t>
            </a:r>
          </a:p>
          <a:p>
            <a:pPr algn="ctr" marL="993130" indent="-496565" lvl="1">
              <a:lnSpc>
                <a:spcPts val="6439"/>
              </a:lnSpc>
              <a:buFont typeface="Arial"/>
              <a:buChar char="•"/>
            </a:pP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نحن نتعلم الألمانية أكثر من السابق</a:t>
            </a: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ctr" marL="993130" indent="-496565" lvl="1">
              <a:lnSpc>
                <a:spcPts val="6439"/>
              </a:lnSpc>
              <a:buFont typeface="Arial"/>
              <a:buChar char="•"/>
            </a:pP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Wir lernen am meisten Deutsch im Kurs.</a:t>
            </a:r>
          </a:p>
          <a:p>
            <a:pPr algn="ctr" marL="993130" indent="-496565" lvl="1">
              <a:lnSpc>
                <a:spcPts val="6439"/>
              </a:lnSpc>
              <a:buFont typeface="Arial"/>
              <a:buChar char="•"/>
            </a:pP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نحن نتعلم الألمانية أكثر شيء في الدورة</a:t>
            </a:r>
            <a:r>
              <a:rPr lang="en-US" sz="4599" spc="206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ctr" marL="0" indent="0" lvl="0">
              <a:lnSpc>
                <a:spcPts val="6439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775970"/>
            <a:ext cx="12497986" cy="865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gut → besser → am besten</a:t>
            </a:r>
          </a:p>
          <a:p>
            <a:pPr algn="l">
              <a:lnSpc>
                <a:spcPts val="5739"/>
              </a:lnSpc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جيد → أفضل → الأفضل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algn="l" marL="885182" indent="-442591" lvl="1">
              <a:lnSpc>
                <a:spcPts val="5739"/>
              </a:lnSpc>
              <a:buAutoNum type="arabicPeriod" startAt="1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Deutsch ist gut.</a:t>
            </a:r>
          </a:p>
          <a:p>
            <a:pPr algn="l" marL="885182" indent="-442591" lvl="1">
              <a:lnSpc>
                <a:spcPts val="5739"/>
              </a:lnSpc>
              <a:buAutoNum type="arabicPeriod" startAt="1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الألمانية جيدة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885182" indent="-442591" lvl="1">
              <a:lnSpc>
                <a:spcPts val="5739"/>
              </a:lnSpc>
              <a:buAutoNum type="arabicPeriod" startAt="1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gut (Adjektiv)</a:t>
            </a:r>
          </a:p>
          <a:p>
            <a:pPr algn="l" marL="885182" indent="-442591" lvl="1">
              <a:lnSpc>
                <a:spcPts val="5739"/>
              </a:lnSpc>
              <a:buAutoNum type="arabicPeriod" startAt="1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Deutsch ist besser als Französisch.</a:t>
            </a:r>
          </a:p>
          <a:p>
            <a:pPr algn="l" marL="885182" indent="-442591" lvl="1">
              <a:lnSpc>
                <a:spcPts val="5739"/>
              </a:lnSpc>
              <a:buAutoNum type="arabicPeriod" startAt="1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الألمانية أفضل من الفرنسية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885182" indent="-442591" lvl="1">
              <a:lnSpc>
                <a:spcPts val="5739"/>
              </a:lnSpc>
              <a:buAutoNum type="arabicPeriod" startAt="1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besser (Komparativ)</a:t>
            </a:r>
          </a:p>
          <a:p>
            <a:pPr algn="l" marL="885182" indent="-442591" lvl="1">
              <a:lnSpc>
                <a:spcPts val="5739"/>
              </a:lnSpc>
              <a:buAutoNum type="arabicPeriod" startAt="1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Deutsch ist am besten für die Arbeit.</a:t>
            </a:r>
          </a:p>
          <a:p>
            <a:pPr algn="l" marL="885182" indent="-442591" lvl="1">
              <a:lnSpc>
                <a:spcPts val="5739"/>
              </a:lnSpc>
              <a:buAutoNum type="arabicPeriod" startAt="1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الألمانية هي الأفضل للعمل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885182" indent="-442591" lvl="1">
              <a:lnSpc>
                <a:spcPts val="5739"/>
              </a:lnSpc>
              <a:buAutoNum type="arabicPeriod" startAt="1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am besten (Superlativ)</a:t>
            </a:r>
          </a:p>
          <a:p>
            <a:pPr algn="l" marL="0" indent="0" lvl="0">
              <a:lnSpc>
                <a:spcPts val="5739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1499870"/>
            <a:ext cx="12497986" cy="7211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Das Essen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ist gut.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الطعام جيد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gut (Adjektiv)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Das Essen hier ist besser als zu Hause.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الطعام هنا أفضل من البيت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besser (Komparativ)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Das Essen im Restaurant ist am besten.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الطعام في المطعم هو الأفضل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am besten (Superlativ)</a:t>
            </a:r>
          </a:p>
          <a:p>
            <a:pPr algn="l" marL="0" indent="0" lvl="0">
              <a:lnSpc>
                <a:spcPts val="5739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775970"/>
            <a:ext cx="12497986" cy="865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viel → mehr → am meisten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كثير →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أكثر → الأكثر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Ich habe viel Zeit.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لدي وقت كثير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viel (Mengenwort)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Ich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habe mehr Zeit als du.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لدي وقت أكثر منك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mehr (Komparativ)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Ich h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abe am meisten Zeit heute.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لدي أكبر قدر من الوقت اليوم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am meisten (Superlativ)</a:t>
            </a:r>
          </a:p>
          <a:p>
            <a:pPr algn="l" marL="0" indent="0" lvl="0">
              <a:lnSpc>
                <a:spcPts val="5739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775970"/>
            <a:ext cx="12497986" cy="8658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viel → mehr → am meisten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(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كثير →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أكثر → الأكثر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Ich habe viel Zeit.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لدي وقت كثير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viel (Mengenwort)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Ich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habe mehr Zeit als du.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لدي وقت أكثر منك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mehr (Komparativ)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Ich h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abe am meisten Zeit heute.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لدي أكبر قدر من الوقت اليوم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am meisten (Superlativ)</a:t>
            </a:r>
          </a:p>
          <a:p>
            <a:pPr algn="l" marL="0" indent="0" lvl="0">
              <a:lnSpc>
                <a:spcPts val="5739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1499870"/>
            <a:ext cx="12497986" cy="7211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Er trinkt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viel Wasser.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هو يشرب ماءً كثيرًا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viel (Mengenwort)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Er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trinkt mehr Wasser als ich.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هو يشرب ماءً أكثر مني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mehr (Komparativ)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Er trinkt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am meisten Wasser.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هو يشرب أكبر كمية من الماء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am meisten (Superlativ)</a:t>
            </a:r>
          </a:p>
          <a:p>
            <a:pPr algn="l" marL="0" indent="0" lvl="0">
              <a:lnSpc>
                <a:spcPts val="5739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1499870"/>
            <a:ext cx="12497986" cy="7211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Er trinkt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viel Wasser.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هو يشرب ماءً كثيرًا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viel (Mengenwort)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Er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trinkt mehr Wasser als ich.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هو يشرب ماءً أكثر مني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mehr (Komparativ)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Er trinkt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am meisten Wasser.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هو يشرب أكبر كمية من الماء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am meisten (Superlativ)</a:t>
            </a:r>
          </a:p>
          <a:p>
            <a:pPr algn="l" marL="0" indent="0" lvl="0">
              <a:lnSpc>
                <a:spcPts val="5739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1137920"/>
            <a:ext cx="12497986" cy="7934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groß (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كبير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Positiv: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Der Hund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ist groß.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الكلب كبير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K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omparativ: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Der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Hund ist größer als die Katze.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الكلب أكبر من القطة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Su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perlativ: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Der Hund ist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am größten.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الكلب هو الأكبر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0" indent="0" lvl="0">
              <a:lnSpc>
                <a:spcPts val="5739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1137920"/>
            <a:ext cx="12497986" cy="7934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alt (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كبير في السن / قديم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Positiv: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Mein Vater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ist alt.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أبي كبير في السن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K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omparativ: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Mei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n Vater ist älter als meine Mutter.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أبي أكبر سنًا من أمي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Su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perlativ: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Mein Großvater ist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am ältesten.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جدي هو الأكبر سنًا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0" indent="0" lvl="0">
              <a:lnSpc>
                <a:spcPts val="5739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1137920"/>
            <a:ext cx="12497986" cy="7934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jung (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شاب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Positiv: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Meine Schwester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ist jung.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أختي شابة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K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omparativ: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Si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e ist jünger als ich.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هي أصغر مني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Su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perlativ: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Sie ist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am jüngsten in der Familie.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هي الأصغر في العائلة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0" indent="0" lvl="0">
              <a:lnSpc>
                <a:spcPts val="5739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1137920"/>
            <a:ext cx="12497986" cy="7934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schnell (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سريع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Positiv: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Das Auto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ist schnell.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السيارة سريعة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K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omparativ: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Das Auto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ist schneller als der Bus.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السيارة أسرع من الحافلة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Su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perlativ: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Das Auto ist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am schnellsten.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السيارة هي الأسرع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0" indent="0" lvl="0">
              <a:lnSpc>
                <a:spcPts val="5739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1137920"/>
            <a:ext cx="12497986" cy="7934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teuer (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غالي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Positiv: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Das Handy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ist teuer.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الهاتف غالي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K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omparativ: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Dieses Handy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ist teurer als das andere.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هذا الهاتف أغلى من الآخر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Su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perlativ: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Dieses Handy ist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am teuersten.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هذا الهاتف هو الأغلى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0" indent="0" lvl="0">
              <a:lnSpc>
                <a:spcPts val="5739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019606">
            <a:off x="13580842" y="-1136129"/>
            <a:ext cx="3889773" cy="12559257"/>
          </a:xfrm>
          <a:custGeom>
            <a:avLst/>
            <a:gdLst/>
            <a:ahLst/>
            <a:cxnLst/>
            <a:rect r="r" b="b" t="t" l="l"/>
            <a:pathLst>
              <a:path h="12559257" w="3889773">
                <a:moveTo>
                  <a:pt x="0" y="0"/>
                </a:moveTo>
                <a:lnTo>
                  <a:pt x="3889773" y="0"/>
                </a:lnTo>
                <a:lnTo>
                  <a:pt x="3889773" y="12559258"/>
                </a:lnTo>
                <a:lnTo>
                  <a:pt x="0" y="125592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525794" t="-40822" r="0" b="-5299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128476" y="-634385"/>
            <a:ext cx="7779807" cy="11555770"/>
            <a:chOff x="0" y="0"/>
            <a:chExt cx="4275074" cy="6350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75074" cy="6350000"/>
            </a:xfrm>
            <a:custGeom>
              <a:avLst/>
              <a:gdLst/>
              <a:ahLst/>
              <a:cxnLst/>
              <a:rect r="r" b="b" t="t" l="l"/>
              <a:pathLst>
                <a:path h="6350000" w="4275074">
                  <a:moveTo>
                    <a:pt x="4275074" y="0"/>
                  </a:moveTo>
                  <a:lnTo>
                    <a:pt x="2736723" y="6350000"/>
                  </a:lnTo>
                  <a:lnTo>
                    <a:pt x="0" y="6350000"/>
                  </a:lnTo>
                  <a:lnTo>
                    <a:pt x="1520444" y="0"/>
                  </a:lnTo>
                  <a:lnTo>
                    <a:pt x="4275074" y="0"/>
                  </a:lnTo>
                  <a:close/>
                </a:path>
              </a:pathLst>
            </a:custGeom>
            <a:blipFill>
              <a:blip r:embed="rId4"/>
              <a:stretch>
                <a:fillRect l="-61471" t="0" r="-61471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028700" y="1137920"/>
            <a:ext cx="12497986" cy="7934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billig (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رخيص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Positiv: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Das Buch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ist billig.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الكتاب رخيص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K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omparativ: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Dieses Buch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ist billiger.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هذا الكتاب أرخص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Su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perlativ: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Dieses Buch ist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am billigsten.</a:t>
            </a:r>
          </a:p>
          <a:p>
            <a:pPr algn="l" marL="885182" indent="-442591" lvl="1">
              <a:lnSpc>
                <a:spcPts val="5739"/>
              </a:lnSpc>
              <a:buFont typeface="Arial"/>
              <a:buChar char="•"/>
            </a:pP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r-EG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هذا الكتاب هو الأرخص</a:t>
            </a:r>
            <a:r>
              <a:rPr lang="en-US" sz="4099" spc="184">
                <a:solidFill>
                  <a:srgbClr val="2A2E3A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 marL="0" indent="0" lvl="0">
              <a:lnSpc>
                <a:spcPts val="5739"/>
              </a:lnSpc>
              <a:spcBef>
                <a:spcPct val="0"/>
              </a:spcBef>
            </a:pPr>
          </a:p>
        </p:txBody>
      </p:sp>
      <p:grpSp>
        <p:nvGrpSpPr>
          <p:cNvPr name="Group 6" id="6"/>
          <p:cNvGrpSpPr/>
          <p:nvPr/>
        </p:nvGrpSpPr>
        <p:grpSpPr>
          <a:xfrm rot="0">
            <a:off x="12411022" y="5331077"/>
            <a:ext cx="2945028" cy="5777885"/>
            <a:chOff x="0" y="0"/>
            <a:chExt cx="406400" cy="79732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4DBF38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-1371921" y="-634385"/>
            <a:ext cx="2743842" cy="5383177"/>
            <a:chOff x="0" y="0"/>
            <a:chExt cx="406400" cy="79732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356049" y="-373209"/>
            <a:ext cx="714563" cy="1401909"/>
            <a:chOff x="0" y="0"/>
            <a:chExt cx="406400" cy="79732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06400" cy="797321"/>
            </a:xfrm>
            <a:custGeom>
              <a:avLst/>
              <a:gdLst/>
              <a:ahLst/>
              <a:cxnLst/>
              <a:rect r="r" b="b" t="t" l="l"/>
              <a:pathLst>
                <a:path h="797321" w="406400">
                  <a:moveTo>
                    <a:pt x="203200" y="0"/>
                  </a:moveTo>
                  <a:lnTo>
                    <a:pt x="406400" y="0"/>
                  </a:lnTo>
                  <a:lnTo>
                    <a:pt x="203200" y="797321"/>
                  </a:lnTo>
                  <a:lnTo>
                    <a:pt x="0" y="797321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80D12A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101600" y="-47625"/>
              <a:ext cx="203200" cy="8449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DAHBa5qu4TM</dc:identifier>
  <dcterms:modified xsi:type="dcterms:W3CDTF">2011-08-01T06:04:30Z</dcterms:modified>
  <cp:revision>1</cp:revision>
  <dc:title>Positiv Komparativ Superlativ</dc:title>
</cp:coreProperties>
</file>