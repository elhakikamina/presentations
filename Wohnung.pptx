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x="18288000" cy="10287000"/>
  <p:notesSz cx="6858000" cy="9144000"/>
  <p:embeddedFontLst>
    <p:embeddedFont>
      <p:font typeface="Montserrat Heavy" charset="1" panose="00000A00000000000000"/>
      <p:regular r:id="rId35"/>
    </p:embeddedFont>
    <p:embeddedFont>
      <p:font typeface="Montserrat" charset="1" panose="00000500000000000000"/>
      <p:regular r:id="rId3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166" r="0" b="-916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3624961"/>
            <a:ext cx="8382002" cy="1067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35"/>
              </a:lnSpc>
            </a:pPr>
            <a:r>
              <a:rPr lang="en-US" b="true" sz="7555">
                <a:solidFill>
                  <a:srgbClr val="F69200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WOHNUNG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45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777173" y="1028700"/>
            <a:ext cx="8115300" cy="8115300"/>
            <a:chOff x="0" y="0"/>
            <a:chExt cx="6350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351270"/>
            </a:xfrm>
            <a:custGeom>
              <a:avLst/>
              <a:gdLst/>
              <a:ahLst/>
              <a:cxnLst/>
              <a:rect r="r" b="b" t="t" l="l"/>
              <a:pathLst>
                <a:path h="6351270" w="6350000">
                  <a:moveTo>
                    <a:pt x="0" y="5955030"/>
                  </a:moveTo>
                  <a:lnTo>
                    <a:pt x="0" y="394970"/>
                  </a:lnTo>
                  <a:cubicBezTo>
                    <a:pt x="0" y="176530"/>
                    <a:pt x="176530" y="0"/>
                    <a:pt x="394970" y="0"/>
                  </a:cubicBezTo>
                  <a:lnTo>
                    <a:pt x="5956300" y="0"/>
                  </a:lnTo>
                  <a:cubicBezTo>
                    <a:pt x="6173470" y="0"/>
                    <a:pt x="6350000" y="176530"/>
                    <a:pt x="6350000" y="394970"/>
                  </a:cubicBezTo>
                  <a:lnTo>
                    <a:pt x="6350000" y="5956300"/>
                  </a:lnTo>
                  <a:cubicBezTo>
                    <a:pt x="6350000" y="6174740"/>
                    <a:pt x="6173470" y="6351270"/>
                    <a:pt x="5955030" y="6351270"/>
                  </a:cubicBezTo>
                  <a:lnTo>
                    <a:pt x="394970" y="6351270"/>
                  </a:lnTo>
                  <a:cubicBezTo>
                    <a:pt x="176530" y="6350000"/>
                    <a:pt x="0" y="6173470"/>
                    <a:pt x="0" y="5955030"/>
                  </a:cubicBezTo>
                  <a:close/>
                </a:path>
              </a:pathLst>
            </a:custGeom>
            <a:blipFill>
              <a:blip r:embed="rId2"/>
              <a:stretch>
                <a:fillRect l="-57130" t="0" r="-44083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28700" y="1564415"/>
            <a:ext cx="10181386" cy="1691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3859"/>
              </a:lnSpc>
            </a:pPr>
            <a:r>
              <a:rPr lang="en-US" sz="98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die Wohnung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816291" y="3969382"/>
            <a:ext cx="6787591" cy="488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rtl="true">
              <a:lnSpc>
                <a:spcPts val="4060"/>
              </a:lnSpc>
            </a:pPr>
            <a:r>
              <a:rPr lang="ar-EG" sz="2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الشقة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45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777173" y="1028700"/>
            <a:ext cx="8115300" cy="8115300"/>
            <a:chOff x="0" y="0"/>
            <a:chExt cx="6350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351270"/>
            </a:xfrm>
            <a:custGeom>
              <a:avLst/>
              <a:gdLst/>
              <a:ahLst/>
              <a:cxnLst/>
              <a:rect r="r" b="b" t="t" l="l"/>
              <a:pathLst>
                <a:path h="6351270" w="6350000">
                  <a:moveTo>
                    <a:pt x="0" y="5955030"/>
                  </a:moveTo>
                  <a:lnTo>
                    <a:pt x="0" y="394970"/>
                  </a:lnTo>
                  <a:cubicBezTo>
                    <a:pt x="0" y="176530"/>
                    <a:pt x="176530" y="0"/>
                    <a:pt x="394970" y="0"/>
                  </a:cubicBezTo>
                  <a:lnTo>
                    <a:pt x="5956300" y="0"/>
                  </a:lnTo>
                  <a:cubicBezTo>
                    <a:pt x="6173470" y="0"/>
                    <a:pt x="6350000" y="176530"/>
                    <a:pt x="6350000" y="394970"/>
                  </a:cubicBezTo>
                  <a:lnTo>
                    <a:pt x="6350000" y="5956300"/>
                  </a:lnTo>
                  <a:cubicBezTo>
                    <a:pt x="6350000" y="6174740"/>
                    <a:pt x="6173470" y="6351270"/>
                    <a:pt x="5955030" y="6351270"/>
                  </a:cubicBezTo>
                  <a:lnTo>
                    <a:pt x="394970" y="6351270"/>
                  </a:lnTo>
                  <a:cubicBezTo>
                    <a:pt x="176530" y="6350000"/>
                    <a:pt x="0" y="6173470"/>
                    <a:pt x="0" y="5955030"/>
                  </a:cubicBezTo>
                  <a:close/>
                </a:path>
              </a:pathLst>
            </a:custGeom>
            <a:blipFill>
              <a:blip r:embed="rId2"/>
              <a:stretch>
                <a:fillRect l="-57130" t="0" r="-44083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28700" y="1564415"/>
            <a:ext cx="10181386" cy="1691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3859"/>
              </a:lnSpc>
            </a:pPr>
            <a:r>
              <a:rPr lang="en-US" sz="98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das Haus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816291" y="3969382"/>
            <a:ext cx="6787591" cy="488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rtl="true">
              <a:lnSpc>
                <a:spcPts val="4060"/>
              </a:lnSpc>
            </a:pPr>
            <a:r>
              <a:rPr lang="ar-EG" sz="2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المنزل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45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777173" y="1028700"/>
            <a:ext cx="8115300" cy="8115300"/>
            <a:chOff x="0" y="0"/>
            <a:chExt cx="6350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351270"/>
            </a:xfrm>
            <a:custGeom>
              <a:avLst/>
              <a:gdLst/>
              <a:ahLst/>
              <a:cxnLst/>
              <a:rect r="r" b="b" t="t" l="l"/>
              <a:pathLst>
                <a:path h="6351270" w="6350000">
                  <a:moveTo>
                    <a:pt x="0" y="5955030"/>
                  </a:moveTo>
                  <a:lnTo>
                    <a:pt x="0" y="394970"/>
                  </a:lnTo>
                  <a:cubicBezTo>
                    <a:pt x="0" y="176530"/>
                    <a:pt x="176530" y="0"/>
                    <a:pt x="394970" y="0"/>
                  </a:cubicBezTo>
                  <a:lnTo>
                    <a:pt x="5956300" y="0"/>
                  </a:lnTo>
                  <a:cubicBezTo>
                    <a:pt x="6173470" y="0"/>
                    <a:pt x="6350000" y="176530"/>
                    <a:pt x="6350000" y="394970"/>
                  </a:cubicBezTo>
                  <a:lnTo>
                    <a:pt x="6350000" y="5956300"/>
                  </a:lnTo>
                  <a:cubicBezTo>
                    <a:pt x="6350000" y="6174740"/>
                    <a:pt x="6173470" y="6351270"/>
                    <a:pt x="5955030" y="6351270"/>
                  </a:cubicBezTo>
                  <a:lnTo>
                    <a:pt x="394970" y="6351270"/>
                  </a:lnTo>
                  <a:cubicBezTo>
                    <a:pt x="176530" y="6350000"/>
                    <a:pt x="0" y="6173470"/>
                    <a:pt x="0" y="5955030"/>
                  </a:cubicBezTo>
                  <a:close/>
                </a:path>
              </a:pathLst>
            </a:custGeom>
            <a:blipFill>
              <a:blip r:embed="rId2"/>
              <a:stretch>
                <a:fillRect l="-57130" t="0" r="-44083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28700" y="1564415"/>
            <a:ext cx="10181386" cy="1691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3859"/>
              </a:lnSpc>
            </a:pPr>
            <a:r>
              <a:rPr lang="en-US" sz="98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das Zimmer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816291" y="3969382"/>
            <a:ext cx="6787591" cy="488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rtl="true">
              <a:lnSpc>
                <a:spcPts val="4060"/>
              </a:lnSpc>
            </a:pPr>
            <a:r>
              <a:rPr lang="ar-EG" sz="2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الغرفة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45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777173" y="1028700"/>
            <a:ext cx="8115300" cy="8115300"/>
            <a:chOff x="0" y="0"/>
            <a:chExt cx="6350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351270"/>
            </a:xfrm>
            <a:custGeom>
              <a:avLst/>
              <a:gdLst/>
              <a:ahLst/>
              <a:cxnLst/>
              <a:rect r="r" b="b" t="t" l="l"/>
              <a:pathLst>
                <a:path h="6351270" w="6350000">
                  <a:moveTo>
                    <a:pt x="0" y="5955030"/>
                  </a:moveTo>
                  <a:lnTo>
                    <a:pt x="0" y="394970"/>
                  </a:lnTo>
                  <a:cubicBezTo>
                    <a:pt x="0" y="176530"/>
                    <a:pt x="176530" y="0"/>
                    <a:pt x="394970" y="0"/>
                  </a:cubicBezTo>
                  <a:lnTo>
                    <a:pt x="5956300" y="0"/>
                  </a:lnTo>
                  <a:cubicBezTo>
                    <a:pt x="6173470" y="0"/>
                    <a:pt x="6350000" y="176530"/>
                    <a:pt x="6350000" y="394970"/>
                  </a:cubicBezTo>
                  <a:lnTo>
                    <a:pt x="6350000" y="5956300"/>
                  </a:lnTo>
                  <a:cubicBezTo>
                    <a:pt x="6350000" y="6174740"/>
                    <a:pt x="6173470" y="6351270"/>
                    <a:pt x="5955030" y="6351270"/>
                  </a:cubicBezTo>
                  <a:lnTo>
                    <a:pt x="394970" y="6351270"/>
                  </a:lnTo>
                  <a:cubicBezTo>
                    <a:pt x="176530" y="6350000"/>
                    <a:pt x="0" y="6173470"/>
                    <a:pt x="0" y="5955030"/>
                  </a:cubicBezTo>
                  <a:close/>
                </a:path>
              </a:pathLst>
            </a:custGeom>
            <a:blipFill>
              <a:blip r:embed="rId2"/>
              <a:stretch>
                <a:fillRect l="-57130" t="0" r="-44083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28700" y="1564415"/>
            <a:ext cx="14066791" cy="1691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3859"/>
              </a:lnSpc>
            </a:pPr>
            <a:r>
              <a:rPr lang="en-US" sz="98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das Wohnzimmer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816291" y="3969382"/>
            <a:ext cx="6787591" cy="488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rtl="true">
              <a:lnSpc>
                <a:spcPts val="4060"/>
              </a:lnSpc>
            </a:pPr>
            <a:r>
              <a:rPr lang="ar-EG" sz="2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غرفة الجلوس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45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777173" y="1028700"/>
            <a:ext cx="8115300" cy="8115300"/>
            <a:chOff x="0" y="0"/>
            <a:chExt cx="6350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351270"/>
            </a:xfrm>
            <a:custGeom>
              <a:avLst/>
              <a:gdLst/>
              <a:ahLst/>
              <a:cxnLst/>
              <a:rect r="r" b="b" t="t" l="l"/>
              <a:pathLst>
                <a:path h="6351270" w="6350000">
                  <a:moveTo>
                    <a:pt x="0" y="5955030"/>
                  </a:moveTo>
                  <a:lnTo>
                    <a:pt x="0" y="394970"/>
                  </a:lnTo>
                  <a:cubicBezTo>
                    <a:pt x="0" y="176530"/>
                    <a:pt x="176530" y="0"/>
                    <a:pt x="394970" y="0"/>
                  </a:cubicBezTo>
                  <a:lnTo>
                    <a:pt x="5956300" y="0"/>
                  </a:lnTo>
                  <a:cubicBezTo>
                    <a:pt x="6173470" y="0"/>
                    <a:pt x="6350000" y="176530"/>
                    <a:pt x="6350000" y="394970"/>
                  </a:cubicBezTo>
                  <a:lnTo>
                    <a:pt x="6350000" y="5956300"/>
                  </a:lnTo>
                  <a:cubicBezTo>
                    <a:pt x="6350000" y="6174740"/>
                    <a:pt x="6173470" y="6351270"/>
                    <a:pt x="5955030" y="6351270"/>
                  </a:cubicBezTo>
                  <a:lnTo>
                    <a:pt x="394970" y="6351270"/>
                  </a:lnTo>
                  <a:cubicBezTo>
                    <a:pt x="176530" y="6350000"/>
                    <a:pt x="0" y="6173470"/>
                    <a:pt x="0" y="5955030"/>
                  </a:cubicBezTo>
                  <a:close/>
                </a:path>
              </a:pathLst>
            </a:custGeom>
            <a:blipFill>
              <a:blip r:embed="rId2"/>
              <a:stretch>
                <a:fillRect l="-57130" t="0" r="-44083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28700" y="1564415"/>
            <a:ext cx="14066791" cy="1691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3859"/>
              </a:lnSpc>
            </a:pPr>
            <a:r>
              <a:rPr lang="en-US" sz="98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das Schlafzimmer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816291" y="3969382"/>
            <a:ext cx="6787591" cy="488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rtl="true">
              <a:lnSpc>
                <a:spcPts val="4060"/>
              </a:lnSpc>
            </a:pPr>
            <a:r>
              <a:rPr lang="ar-EG" sz="2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غرفة النوم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45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777173" y="1028700"/>
            <a:ext cx="8115300" cy="8115300"/>
            <a:chOff x="0" y="0"/>
            <a:chExt cx="6350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351270"/>
            </a:xfrm>
            <a:custGeom>
              <a:avLst/>
              <a:gdLst/>
              <a:ahLst/>
              <a:cxnLst/>
              <a:rect r="r" b="b" t="t" l="l"/>
              <a:pathLst>
                <a:path h="6351270" w="6350000">
                  <a:moveTo>
                    <a:pt x="0" y="5955030"/>
                  </a:moveTo>
                  <a:lnTo>
                    <a:pt x="0" y="394970"/>
                  </a:lnTo>
                  <a:cubicBezTo>
                    <a:pt x="0" y="176530"/>
                    <a:pt x="176530" y="0"/>
                    <a:pt x="394970" y="0"/>
                  </a:cubicBezTo>
                  <a:lnTo>
                    <a:pt x="5956300" y="0"/>
                  </a:lnTo>
                  <a:cubicBezTo>
                    <a:pt x="6173470" y="0"/>
                    <a:pt x="6350000" y="176530"/>
                    <a:pt x="6350000" y="394970"/>
                  </a:cubicBezTo>
                  <a:lnTo>
                    <a:pt x="6350000" y="5956300"/>
                  </a:lnTo>
                  <a:cubicBezTo>
                    <a:pt x="6350000" y="6174740"/>
                    <a:pt x="6173470" y="6351270"/>
                    <a:pt x="5955030" y="6351270"/>
                  </a:cubicBezTo>
                  <a:lnTo>
                    <a:pt x="394970" y="6351270"/>
                  </a:lnTo>
                  <a:cubicBezTo>
                    <a:pt x="176530" y="6350000"/>
                    <a:pt x="0" y="6173470"/>
                    <a:pt x="0" y="5955030"/>
                  </a:cubicBezTo>
                  <a:close/>
                </a:path>
              </a:pathLst>
            </a:custGeom>
            <a:blipFill>
              <a:blip r:embed="rId2"/>
              <a:stretch>
                <a:fillRect l="-57130" t="0" r="-44083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28700" y="1564415"/>
            <a:ext cx="14066791" cy="1691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3859"/>
              </a:lnSpc>
            </a:pPr>
            <a:r>
              <a:rPr lang="en-US" sz="98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die Küche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816291" y="3969382"/>
            <a:ext cx="6787591" cy="488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rtl="true">
              <a:lnSpc>
                <a:spcPts val="4060"/>
              </a:lnSpc>
            </a:pPr>
            <a:r>
              <a:rPr lang="ar-EG" sz="2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المطبخ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45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777173" y="1028700"/>
            <a:ext cx="8115300" cy="8115300"/>
            <a:chOff x="0" y="0"/>
            <a:chExt cx="6350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351270"/>
            </a:xfrm>
            <a:custGeom>
              <a:avLst/>
              <a:gdLst/>
              <a:ahLst/>
              <a:cxnLst/>
              <a:rect r="r" b="b" t="t" l="l"/>
              <a:pathLst>
                <a:path h="6351270" w="6350000">
                  <a:moveTo>
                    <a:pt x="0" y="5955030"/>
                  </a:moveTo>
                  <a:lnTo>
                    <a:pt x="0" y="394970"/>
                  </a:lnTo>
                  <a:cubicBezTo>
                    <a:pt x="0" y="176530"/>
                    <a:pt x="176530" y="0"/>
                    <a:pt x="394970" y="0"/>
                  </a:cubicBezTo>
                  <a:lnTo>
                    <a:pt x="5956300" y="0"/>
                  </a:lnTo>
                  <a:cubicBezTo>
                    <a:pt x="6173470" y="0"/>
                    <a:pt x="6350000" y="176530"/>
                    <a:pt x="6350000" y="394970"/>
                  </a:cubicBezTo>
                  <a:lnTo>
                    <a:pt x="6350000" y="5956300"/>
                  </a:lnTo>
                  <a:cubicBezTo>
                    <a:pt x="6350000" y="6174740"/>
                    <a:pt x="6173470" y="6351270"/>
                    <a:pt x="5955030" y="6351270"/>
                  </a:cubicBezTo>
                  <a:lnTo>
                    <a:pt x="394970" y="6351270"/>
                  </a:lnTo>
                  <a:cubicBezTo>
                    <a:pt x="176530" y="6350000"/>
                    <a:pt x="0" y="6173470"/>
                    <a:pt x="0" y="5955030"/>
                  </a:cubicBezTo>
                  <a:close/>
                </a:path>
              </a:pathLst>
            </a:custGeom>
            <a:blipFill>
              <a:blip r:embed="rId2"/>
              <a:stretch>
                <a:fillRect l="-57130" t="0" r="-44083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28700" y="1564415"/>
            <a:ext cx="14066791" cy="1691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3859"/>
              </a:lnSpc>
            </a:pPr>
            <a:r>
              <a:rPr lang="en-US" sz="98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das Badezimmer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816291" y="3969382"/>
            <a:ext cx="6787591" cy="488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rtl="true">
              <a:lnSpc>
                <a:spcPts val="4060"/>
              </a:lnSpc>
            </a:pPr>
            <a:r>
              <a:rPr lang="ar-EG" sz="2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الحمّام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45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777173" y="1028700"/>
            <a:ext cx="8115300" cy="8115300"/>
            <a:chOff x="0" y="0"/>
            <a:chExt cx="6350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351270"/>
            </a:xfrm>
            <a:custGeom>
              <a:avLst/>
              <a:gdLst/>
              <a:ahLst/>
              <a:cxnLst/>
              <a:rect r="r" b="b" t="t" l="l"/>
              <a:pathLst>
                <a:path h="6351270" w="6350000">
                  <a:moveTo>
                    <a:pt x="0" y="5955030"/>
                  </a:moveTo>
                  <a:lnTo>
                    <a:pt x="0" y="394970"/>
                  </a:lnTo>
                  <a:cubicBezTo>
                    <a:pt x="0" y="176530"/>
                    <a:pt x="176530" y="0"/>
                    <a:pt x="394970" y="0"/>
                  </a:cubicBezTo>
                  <a:lnTo>
                    <a:pt x="5956300" y="0"/>
                  </a:lnTo>
                  <a:cubicBezTo>
                    <a:pt x="6173470" y="0"/>
                    <a:pt x="6350000" y="176530"/>
                    <a:pt x="6350000" y="394970"/>
                  </a:cubicBezTo>
                  <a:lnTo>
                    <a:pt x="6350000" y="5956300"/>
                  </a:lnTo>
                  <a:cubicBezTo>
                    <a:pt x="6350000" y="6174740"/>
                    <a:pt x="6173470" y="6351270"/>
                    <a:pt x="5955030" y="6351270"/>
                  </a:cubicBezTo>
                  <a:lnTo>
                    <a:pt x="394970" y="6351270"/>
                  </a:lnTo>
                  <a:cubicBezTo>
                    <a:pt x="176530" y="6350000"/>
                    <a:pt x="0" y="6173470"/>
                    <a:pt x="0" y="5955030"/>
                  </a:cubicBezTo>
                  <a:close/>
                </a:path>
              </a:pathLst>
            </a:custGeom>
            <a:blipFill>
              <a:blip r:embed="rId2"/>
              <a:stretch>
                <a:fillRect l="-57130" t="0" r="-44083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28700" y="1564415"/>
            <a:ext cx="14066791" cy="1691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3859"/>
              </a:lnSpc>
            </a:pPr>
            <a:r>
              <a:rPr lang="en-US" sz="98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die Toilette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816291" y="3969382"/>
            <a:ext cx="6787591" cy="488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rtl="true">
              <a:lnSpc>
                <a:spcPts val="4060"/>
              </a:lnSpc>
            </a:pPr>
            <a:r>
              <a:rPr lang="ar-EG" sz="2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المرحاض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45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777173" y="1028700"/>
            <a:ext cx="8115300" cy="8115300"/>
            <a:chOff x="0" y="0"/>
            <a:chExt cx="6350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351270"/>
            </a:xfrm>
            <a:custGeom>
              <a:avLst/>
              <a:gdLst/>
              <a:ahLst/>
              <a:cxnLst/>
              <a:rect r="r" b="b" t="t" l="l"/>
              <a:pathLst>
                <a:path h="6351270" w="6350000">
                  <a:moveTo>
                    <a:pt x="0" y="5955030"/>
                  </a:moveTo>
                  <a:lnTo>
                    <a:pt x="0" y="394970"/>
                  </a:lnTo>
                  <a:cubicBezTo>
                    <a:pt x="0" y="176530"/>
                    <a:pt x="176530" y="0"/>
                    <a:pt x="394970" y="0"/>
                  </a:cubicBezTo>
                  <a:lnTo>
                    <a:pt x="5956300" y="0"/>
                  </a:lnTo>
                  <a:cubicBezTo>
                    <a:pt x="6173470" y="0"/>
                    <a:pt x="6350000" y="176530"/>
                    <a:pt x="6350000" y="394970"/>
                  </a:cubicBezTo>
                  <a:lnTo>
                    <a:pt x="6350000" y="5956300"/>
                  </a:lnTo>
                  <a:cubicBezTo>
                    <a:pt x="6350000" y="6174740"/>
                    <a:pt x="6173470" y="6351270"/>
                    <a:pt x="5955030" y="6351270"/>
                  </a:cubicBezTo>
                  <a:lnTo>
                    <a:pt x="394970" y="6351270"/>
                  </a:lnTo>
                  <a:cubicBezTo>
                    <a:pt x="176530" y="6350000"/>
                    <a:pt x="0" y="6173470"/>
                    <a:pt x="0" y="5955030"/>
                  </a:cubicBezTo>
                  <a:close/>
                </a:path>
              </a:pathLst>
            </a:custGeom>
            <a:blipFill>
              <a:blip r:embed="rId2"/>
              <a:stretch>
                <a:fillRect l="-57130" t="0" r="-44083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28700" y="1564415"/>
            <a:ext cx="14066791" cy="1691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3859"/>
              </a:lnSpc>
            </a:pPr>
            <a:r>
              <a:rPr lang="en-US" sz="98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der Balkon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816291" y="3969382"/>
            <a:ext cx="6787591" cy="488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rtl="true">
              <a:lnSpc>
                <a:spcPts val="4060"/>
              </a:lnSpc>
            </a:pPr>
            <a:r>
              <a:rPr lang="ar-EG" sz="2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الشرفة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45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777173" y="1028700"/>
            <a:ext cx="8115300" cy="8115300"/>
            <a:chOff x="0" y="0"/>
            <a:chExt cx="6350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351270"/>
            </a:xfrm>
            <a:custGeom>
              <a:avLst/>
              <a:gdLst/>
              <a:ahLst/>
              <a:cxnLst/>
              <a:rect r="r" b="b" t="t" l="l"/>
              <a:pathLst>
                <a:path h="6351270" w="6350000">
                  <a:moveTo>
                    <a:pt x="0" y="5955030"/>
                  </a:moveTo>
                  <a:lnTo>
                    <a:pt x="0" y="394970"/>
                  </a:lnTo>
                  <a:cubicBezTo>
                    <a:pt x="0" y="176530"/>
                    <a:pt x="176530" y="0"/>
                    <a:pt x="394970" y="0"/>
                  </a:cubicBezTo>
                  <a:lnTo>
                    <a:pt x="5956300" y="0"/>
                  </a:lnTo>
                  <a:cubicBezTo>
                    <a:pt x="6173470" y="0"/>
                    <a:pt x="6350000" y="176530"/>
                    <a:pt x="6350000" y="394970"/>
                  </a:cubicBezTo>
                  <a:lnTo>
                    <a:pt x="6350000" y="5956300"/>
                  </a:lnTo>
                  <a:cubicBezTo>
                    <a:pt x="6350000" y="6174740"/>
                    <a:pt x="6173470" y="6351270"/>
                    <a:pt x="5955030" y="6351270"/>
                  </a:cubicBezTo>
                  <a:lnTo>
                    <a:pt x="394970" y="6351270"/>
                  </a:lnTo>
                  <a:cubicBezTo>
                    <a:pt x="176530" y="6350000"/>
                    <a:pt x="0" y="6173470"/>
                    <a:pt x="0" y="5955030"/>
                  </a:cubicBezTo>
                  <a:close/>
                </a:path>
              </a:pathLst>
            </a:custGeom>
            <a:blipFill>
              <a:blip r:embed="rId2"/>
              <a:stretch>
                <a:fillRect l="-57130" t="0" r="-44083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28700" y="1564415"/>
            <a:ext cx="14066791" cy="1691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3859"/>
              </a:lnSpc>
            </a:pPr>
            <a:r>
              <a:rPr lang="en-US" sz="98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die Tür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816291" y="3969382"/>
            <a:ext cx="6787591" cy="488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rtl="true">
              <a:lnSpc>
                <a:spcPts val="4060"/>
              </a:lnSpc>
            </a:pPr>
            <a:r>
              <a:rPr lang="ar-EG" sz="2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الباب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45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777173" y="1028700"/>
            <a:ext cx="8115300" cy="8115300"/>
            <a:chOff x="0" y="0"/>
            <a:chExt cx="6350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351270"/>
            </a:xfrm>
            <a:custGeom>
              <a:avLst/>
              <a:gdLst/>
              <a:ahLst/>
              <a:cxnLst/>
              <a:rect r="r" b="b" t="t" l="l"/>
              <a:pathLst>
                <a:path h="6351270" w="6350000">
                  <a:moveTo>
                    <a:pt x="0" y="5955030"/>
                  </a:moveTo>
                  <a:lnTo>
                    <a:pt x="0" y="394970"/>
                  </a:lnTo>
                  <a:cubicBezTo>
                    <a:pt x="0" y="176530"/>
                    <a:pt x="176530" y="0"/>
                    <a:pt x="394970" y="0"/>
                  </a:cubicBezTo>
                  <a:lnTo>
                    <a:pt x="5956300" y="0"/>
                  </a:lnTo>
                  <a:cubicBezTo>
                    <a:pt x="6173470" y="0"/>
                    <a:pt x="6350000" y="176530"/>
                    <a:pt x="6350000" y="394970"/>
                  </a:cubicBezTo>
                  <a:lnTo>
                    <a:pt x="6350000" y="5956300"/>
                  </a:lnTo>
                  <a:cubicBezTo>
                    <a:pt x="6350000" y="6174740"/>
                    <a:pt x="6173470" y="6351270"/>
                    <a:pt x="5955030" y="6351270"/>
                  </a:cubicBezTo>
                  <a:lnTo>
                    <a:pt x="394970" y="6351270"/>
                  </a:lnTo>
                  <a:cubicBezTo>
                    <a:pt x="176530" y="6350000"/>
                    <a:pt x="0" y="6173470"/>
                    <a:pt x="0" y="5955030"/>
                  </a:cubicBezTo>
                  <a:close/>
                </a:path>
              </a:pathLst>
            </a:custGeom>
            <a:blipFill>
              <a:blip r:embed="rId2"/>
              <a:stretch>
                <a:fillRect l="-57130" t="0" r="-44083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28700" y="1564415"/>
            <a:ext cx="14066791" cy="1691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3859"/>
              </a:lnSpc>
            </a:pPr>
            <a:r>
              <a:rPr lang="en-US" sz="98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das Fenster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816291" y="3969382"/>
            <a:ext cx="6787591" cy="488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rtl="true">
              <a:lnSpc>
                <a:spcPts val="4060"/>
              </a:lnSpc>
            </a:pPr>
            <a:r>
              <a:rPr lang="ar-EG" sz="2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النافذة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45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777173" y="1028700"/>
            <a:ext cx="8115300" cy="8115300"/>
            <a:chOff x="0" y="0"/>
            <a:chExt cx="6350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351270"/>
            </a:xfrm>
            <a:custGeom>
              <a:avLst/>
              <a:gdLst/>
              <a:ahLst/>
              <a:cxnLst/>
              <a:rect r="r" b="b" t="t" l="l"/>
              <a:pathLst>
                <a:path h="6351270" w="6350000">
                  <a:moveTo>
                    <a:pt x="0" y="5955030"/>
                  </a:moveTo>
                  <a:lnTo>
                    <a:pt x="0" y="394970"/>
                  </a:lnTo>
                  <a:cubicBezTo>
                    <a:pt x="0" y="176530"/>
                    <a:pt x="176530" y="0"/>
                    <a:pt x="394970" y="0"/>
                  </a:cubicBezTo>
                  <a:lnTo>
                    <a:pt x="5956300" y="0"/>
                  </a:lnTo>
                  <a:cubicBezTo>
                    <a:pt x="6173470" y="0"/>
                    <a:pt x="6350000" y="176530"/>
                    <a:pt x="6350000" y="394970"/>
                  </a:cubicBezTo>
                  <a:lnTo>
                    <a:pt x="6350000" y="5956300"/>
                  </a:lnTo>
                  <a:cubicBezTo>
                    <a:pt x="6350000" y="6174740"/>
                    <a:pt x="6173470" y="6351270"/>
                    <a:pt x="5955030" y="6351270"/>
                  </a:cubicBezTo>
                  <a:lnTo>
                    <a:pt x="394970" y="6351270"/>
                  </a:lnTo>
                  <a:cubicBezTo>
                    <a:pt x="176530" y="6350000"/>
                    <a:pt x="0" y="6173470"/>
                    <a:pt x="0" y="5955030"/>
                  </a:cubicBezTo>
                  <a:close/>
                </a:path>
              </a:pathLst>
            </a:custGeom>
            <a:blipFill>
              <a:blip r:embed="rId2"/>
              <a:stretch>
                <a:fillRect l="-57130" t="0" r="-44083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28700" y="1564415"/>
            <a:ext cx="14066791" cy="1691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3859"/>
              </a:lnSpc>
            </a:pPr>
            <a:r>
              <a:rPr lang="en-US" sz="98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der Boden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816291" y="3969382"/>
            <a:ext cx="6787591" cy="488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rtl="true">
              <a:lnSpc>
                <a:spcPts val="4060"/>
              </a:lnSpc>
            </a:pPr>
            <a:r>
              <a:rPr lang="ar-EG" sz="2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الأرضية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45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777173" y="1028700"/>
            <a:ext cx="8115300" cy="8115300"/>
            <a:chOff x="0" y="0"/>
            <a:chExt cx="6350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351270"/>
            </a:xfrm>
            <a:custGeom>
              <a:avLst/>
              <a:gdLst/>
              <a:ahLst/>
              <a:cxnLst/>
              <a:rect r="r" b="b" t="t" l="l"/>
              <a:pathLst>
                <a:path h="6351270" w="6350000">
                  <a:moveTo>
                    <a:pt x="0" y="5955030"/>
                  </a:moveTo>
                  <a:lnTo>
                    <a:pt x="0" y="394970"/>
                  </a:lnTo>
                  <a:cubicBezTo>
                    <a:pt x="0" y="176530"/>
                    <a:pt x="176530" y="0"/>
                    <a:pt x="394970" y="0"/>
                  </a:cubicBezTo>
                  <a:lnTo>
                    <a:pt x="5956300" y="0"/>
                  </a:lnTo>
                  <a:cubicBezTo>
                    <a:pt x="6173470" y="0"/>
                    <a:pt x="6350000" y="176530"/>
                    <a:pt x="6350000" y="394970"/>
                  </a:cubicBezTo>
                  <a:lnTo>
                    <a:pt x="6350000" y="5956300"/>
                  </a:lnTo>
                  <a:cubicBezTo>
                    <a:pt x="6350000" y="6174740"/>
                    <a:pt x="6173470" y="6351270"/>
                    <a:pt x="5955030" y="6351270"/>
                  </a:cubicBezTo>
                  <a:lnTo>
                    <a:pt x="394970" y="6351270"/>
                  </a:lnTo>
                  <a:cubicBezTo>
                    <a:pt x="176530" y="6350000"/>
                    <a:pt x="0" y="6173470"/>
                    <a:pt x="0" y="5955030"/>
                  </a:cubicBezTo>
                  <a:close/>
                </a:path>
              </a:pathLst>
            </a:custGeom>
            <a:blipFill>
              <a:blip r:embed="rId2"/>
              <a:stretch>
                <a:fillRect l="-57130" t="0" r="-44083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28700" y="1564415"/>
            <a:ext cx="14066791" cy="1691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3859"/>
              </a:lnSpc>
            </a:pPr>
            <a:r>
              <a:rPr lang="en-US" sz="98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die Wand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816291" y="3969382"/>
            <a:ext cx="6787591" cy="488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rtl="true">
              <a:lnSpc>
                <a:spcPts val="4060"/>
              </a:lnSpc>
            </a:pPr>
            <a:r>
              <a:rPr lang="ar-EG" sz="2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الحائط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45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777173" y="1028700"/>
            <a:ext cx="8115300" cy="8115300"/>
            <a:chOff x="0" y="0"/>
            <a:chExt cx="6350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351270"/>
            </a:xfrm>
            <a:custGeom>
              <a:avLst/>
              <a:gdLst/>
              <a:ahLst/>
              <a:cxnLst/>
              <a:rect r="r" b="b" t="t" l="l"/>
              <a:pathLst>
                <a:path h="6351270" w="6350000">
                  <a:moveTo>
                    <a:pt x="0" y="5955030"/>
                  </a:moveTo>
                  <a:lnTo>
                    <a:pt x="0" y="394970"/>
                  </a:lnTo>
                  <a:cubicBezTo>
                    <a:pt x="0" y="176530"/>
                    <a:pt x="176530" y="0"/>
                    <a:pt x="394970" y="0"/>
                  </a:cubicBezTo>
                  <a:lnTo>
                    <a:pt x="5956300" y="0"/>
                  </a:lnTo>
                  <a:cubicBezTo>
                    <a:pt x="6173470" y="0"/>
                    <a:pt x="6350000" y="176530"/>
                    <a:pt x="6350000" y="394970"/>
                  </a:cubicBezTo>
                  <a:lnTo>
                    <a:pt x="6350000" y="5956300"/>
                  </a:lnTo>
                  <a:cubicBezTo>
                    <a:pt x="6350000" y="6174740"/>
                    <a:pt x="6173470" y="6351270"/>
                    <a:pt x="5955030" y="6351270"/>
                  </a:cubicBezTo>
                  <a:lnTo>
                    <a:pt x="394970" y="6351270"/>
                  </a:lnTo>
                  <a:cubicBezTo>
                    <a:pt x="176530" y="6350000"/>
                    <a:pt x="0" y="6173470"/>
                    <a:pt x="0" y="5955030"/>
                  </a:cubicBezTo>
                  <a:close/>
                </a:path>
              </a:pathLst>
            </a:custGeom>
            <a:blipFill>
              <a:blip r:embed="rId2"/>
              <a:stretch>
                <a:fillRect l="-57130" t="0" r="-44083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28700" y="1564415"/>
            <a:ext cx="14066791" cy="1691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3859"/>
              </a:lnSpc>
            </a:pPr>
            <a:r>
              <a:rPr lang="en-US" sz="98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die Miete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816291" y="3969382"/>
            <a:ext cx="6787591" cy="488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rtl="true">
              <a:lnSpc>
                <a:spcPts val="4060"/>
              </a:lnSpc>
            </a:pPr>
            <a:r>
              <a:rPr lang="ar-EG" sz="2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الكراء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45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777173" y="1028700"/>
            <a:ext cx="8115300" cy="8115300"/>
            <a:chOff x="0" y="0"/>
            <a:chExt cx="6350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351270"/>
            </a:xfrm>
            <a:custGeom>
              <a:avLst/>
              <a:gdLst/>
              <a:ahLst/>
              <a:cxnLst/>
              <a:rect r="r" b="b" t="t" l="l"/>
              <a:pathLst>
                <a:path h="6351270" w="6350000">
                  <a:moveTo>
                    <a:pt x="0" y="5955030"/>
                  </a:moveTo>
                  <a:lnTo>
                    <a:pt x="0" y="394970"/>
                  </a:lnTo>
                  <a:cubicBezTo>
                    <a:pt x="0" y="176530"/>
                    <a:pt x="176530" y="0"/>
                    <a:pt x="394970" y="0"/>
                  </a:cubicBezTo>
                  <a:lnTo>
                    <a:pt x="5956300" y="0"/>
                  </a:lnTo>
                  <a:cubicBezTo>
                    <a:pt x="6173470" y="0"/>
                    <a:pt x="6350000" y="176530"/>
                    <a:pt x="6350000" y="394970"/>
                  </a:cubicBezTo>
                  <a:lnTo>
                    <a:pt x="6350000" y="5956300"/>
                  </a:lnTo>
                  <a:cubicBezTo>
                    <a:pt x="6350000" y="6174740"/>
                    <a:pt x="6173470" y="6351270"/>
                    <a:pt x="5955030" y="6351270"/>
                  </a:cubicBezTo>
                  <a:lnTo>
                    <a:pt x="394970" y="6351270"/>
                  </a:lnTo>
                  <a:cubicBezTo>
                    <a:pt x="176530" y="6350000"/>
                    <a:pt x="0" y="6173470"/>
                    <a:pt x="0" y="5955030"/>
                  </a:cubicBezTo>
                  <a:close/>
                </a:path>
              </a:pathLst>
            </a:custGeom>
            <a:blipFill>
              <a:blip r:embed="rId2"/>
              <a:stretch>
                <a:fillRect l="-57130" t="0" r="-44083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28700" y="1564415"/>
            <a:ext cx="14066791" cy="1691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3859"/>
              </a:lnSpc>
            </a:pPr>
            <a:r>
              <a:rPr lang="en-US" sz="98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der Vermieter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816291" y="3969382"/>
            <a:ext cx="6787591" cy="488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rtl="true">
              <a:lnSpc>
                <a:spcPts val="4060"/>
              </a:lnSpc>
            </a:pPr>
            <a:r>
              <a:rPr lang="ar-EG" sz="2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المالك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45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777173" y="1028700"/>
            <a:ext cx="8115300" cy="8115300"/>
            <a:chOff x="0" y="0"/>
            <a:chExt cx="6350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351270"/>
            </a:xfrm>
            <a:custGeom>
              <a:avLst/>
              <a:gdLst/>
              <a:ahLst/>
              <a:cxnLst/>
              <a:rect r="r" b="b" t="t" l="l"/>
              <a:pathLst>
                <a:path h="6351270" w="6350000">
                  <a:moveTo>
                    <a:pt x="0" y="5955030"/>
                  </a:moveTo>
                  <a:lnTo>
                    <a:pt x="0" y="394970"/>
                  </a:lnTo>
                  <a:cubicBezTo>
                    <a:pt x="0" y="176530"/>
                    <a:pt x="176530" y="0"/>
                    <a:pt x="394970" y="0"/>
                  </a:cubicBezTo>
                  <a:lnTo>
                    <a:pt x="5956300" y="0"/>
                  </a:lnTo>
                  <a:cubicBezTo>
                    <a:pt x="6173470" y="0"/>
                    <a:pt x="6350000" y="176530"/>
                    <a:pt x="6350000" y="394970"/>
                  </a:cubicBezTo>
                  <a:lnTo>
                    <a:pt x="6350000" y="5956300"/>
                  </a:lnTo>
                  <a:cubicBezTo>
                    <a:pt x="6350000" y="6174740"/>
                    <a:pt x="6173470" y="6351270"/>
                    <a:pt x="5955030" y="6351270"/>
                  </a:cubicBezTo>
                  <a:lnTo>
                    <a:pt x="394970" y="6351270"/>
                  </a:lnTo>
                  <a:cubicBezTo>
                    <a:pt x="176530" y="6350000"/>
                    <a:pt x="0" y="6173470"/>
                    <a:pt x="0" y="5955030"/>
                  </a:cubicBezTo>
                  <a:close/>
                </a:path>
              </a:pathLst>
            </a:custGeom>
            <a:blipFill>
              <a:blip r:embed="rId2"/>
              <a:stretch>
                <a:fillRect l="-57130" t="0" r="-44083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28700" y="1564415"/>
            <a:ext cx="14066791" cy="1691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3859"/>
              </a:lnSpc>
            </a:pPr>
            <a:r>
              <a:rPr lang="en-US" sz="98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die Möbel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816291" y="3969382"/>
            <a:ext cx="6787591" cy="488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rtl="true">
              <a:lnSpc>
                <a:spcPts val="4060"/>
              </a:lnSpc>
            </a:pPr>
            <a:r>
              <a:rPr lang="ar-EG" sz="2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الأثاث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45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777173" y="1028700"/>
            <a:ext cx="8115300" cy="8115300"/>
            <a:chOff x="0" y="0"/>
            <a:chExt cx="6350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351270"/>
            </a:xfrm>
            <a:custGeom>
              <a:avLst/>
              <a:gdLst/>
              <a:ahLst/>
              <a:cxnLst/>
              <a:rect r="r" b="b" t="t" l="l"/>
              <a:pathLst>
                <a:path h="6351270" w="6350000">
                  <a:moveTo>
                    <a:pt x="0" y="5955030"/>
                  </a:moveTo>
                  <a:lnTo>
                    <a:pt x="0" y="394970"/>
                  </a:lnTo>
                  <a:cubicBezTo>
                    <a:pt x="0" y="176530"/>
                    <a:pt x="176530" y="0"/>
                    <a:pt x="394970" y="0"/>
                  </a:cubicBezTo>
                  <a:lnTo>
                    <a:pt x="5956300" y="0"/>
                  </a:lnTo>
                  <a:cubicBezTo>
                    <a:pt x="6173470" y="0"/>
                    <a:pt x="6350000" y="176530"/>
                    <a:pt x="6350000" y="394970"/>
                  </a:cubicBezTo>
                  <a:lnTo>
                    <a:pt x="6350000" y="5956300"/>
                  </a:lnTo>
                  <a:cubicBezTo>
                    <a:pt x="6350000" y="6174740"/>
                    <a:pt x="6173470" y="6351270"/>
                    <a:pt x="5955030" y="6351270"/>
                  </a:cubicBezTo>
                  <a:lnTo>
                    <a:pt x="394970" y="6351270"/>
                  </a:lnTo>
                  <a:cubicBezTo>
                    <a:pt x="176530" y="6350000"/>
                    <a:pt x="0" y="6173470"/>
                    <a:pt x="0" y="5955030"/>
                  </a:cubicBezTo>
                  <a:close/>
                </a:path>
              </a:pathLst>
            </a:custGeom>
            <a:blipFill>
              <a:blip r:embed="rId2"/>
              <a:stretch>
                <a:fillRect l="-57130" t="0" r="-44083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28700" y="1564415"/>
            <a:ext cx="14066791" cy="1691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3859"/>
              </a:lnSpc>
            </a:pPr>
            <a:r>
              <a:rPr lang="en-US" sz="98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das Bett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816291" y="3969382"/>
            <a:ext cx="6787591" cy="488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rtl="true">
              <a:lnSpc>
                <a:spcPts val="4060"/>
              </a:lnSpc>
            </a:pPr>
            <a:r>
              <a:rPr lang="ar-EG" sz="2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السرير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45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777173" y="1028700"/>
            <a:ext cx="8115300" cy="8115300"/>
            <a:chOff x="0" y="0"/>
            <a:chExt cx="6350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351270"/>
            </a:xfrm>
            <a:custGeom>
              <a:avLst/>
              <a:gdLst/>
              <a:ahLst/>
              <a:cxnLst/>
              <a:rect r="r" b="b" t="t" l="l"/>
              <a:pathLst>
                <a:path h="6351270" w="6350000">
                  <a:moveTo>
                    <a:pt x="0" y="5955030"/>
                  </a:moveTo>
                  <a:lnTo>
                    <a:pt x="0" y="394970"/>
                  </a:lnTo>
                  <a:cubicBezTo>
                    <a:pt x="0" y="176530"/>
                    <a:pt x="176530" y="0"/>
                    <a:pt x="394970" y="0"/>
                  </a:cubicBezTo>
                  <a:lnTo>
                    <a:pt x="5956300" y="0"/>
                  </a:lnTo>
                  <a:cubicBezTo>
                    <a:pt x="6173470" y="0"/>
                    <a:pt x="6350000" y="176530"/>
                    <a:pt x="6350000" y="394970"/>
                  </a:cubicBezTo>
                  <a:lnTo>
                    <a:pt x="6350000" y="5956300"/>
                  </a:lnTo>
                  <a:cubicBezTo>
                    <a:pt x="6350000" y="6174740"/>
                    <a:pt x="6173470" y="6351270"/>
                    <a:pt x="5955030" y="6351270"/>
                  </a:cubicBezTo>
                  <a:lnTo>
                    <a:pt x="394970" y="6351270"/>
                  </a:lnTo>
                  <a:cubicBezTo>
                    <a:pt x="176530" y="6350000"/>
                    <a:pt x="0" y="6173470"/>
                    <a:pt x="0" y="5955030"/>
                  </a:cubicBezTo>
                  <a:close/>
                </a:path>
              </a:pathLst>
            </a:custGeom>
            <a:blipFill>
              <a:blip r:embed="rId2"/>
              <a:stretch>
                <a:fillRect l="-57130" t="0" r="-44083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28700" y="1564415"/>
            <a:ext cx="14066791" cy="1691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3859"/>
              </a:lnSpc>
            </a:pPr>
            <a:r>
              <a:rPr lang="en-US" sz="98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der Tisch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816291" y="3969382"/>
            <a:ext cx="6787591" cy="488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rtl="true">
              <a:lnSpc>
                <a:spcPts val="4060"/>
              </a:lnSpc>
            </a:pPr>
            <a:r>
              <a:rPr lang="ar-EG" sz="2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الطاولة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45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777173" y="1028700"/>
            <a:ext cx="8115300" cy="8115300"/>
            <a:chOff x="0" y="0"/>
            <a:chExt cx="6350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351270"/>
            </a:xfrm>
            <a:custGeom>
              <a:avLst/>
              <a:gdLst/>
              <a:ahLst/>
              <a:cxnLst/>
              <a:rect r="r" b="b" t="t" l="l"/>
              <a:pathLst>
                <a:path h="6351270" w="6350000">
                  <a:moveTo>
                    <a:pt x="0" y="5955030"/>
                  </a:moveTo>
                  <a:lnTo>
                    <a:pt x="0" y="394970"/>
                  </a:lnTo>
                  <a:cubicBezTo>
                    <a:pt x="0" y="176530"/>
                    <a:pt x="176530" y="0"/>
                    <a:pt x="394970" y="0"/>
                  </a:cubicBezTo>
                  <a:lnTo>
                    <a:pt x="5956300" y="0"/>
                  </a:lnTo>
                  <a:cubicBezTo>
                    <a:pt x="6173470" y="0"/>
                    <a:pt x="6350000" y="176530"/>
                    <a:pt x="6350000" y="394970"/>
                  </a:cubicBezTo>
                  <a:lnTo>
                    <a:pt x="6350000" y="5956300"/>
                  </a:lnTo>
                  <a:cubicBezTo>
                    <a:pt x="6350000" y="6174740"/>
                    <a:pt x="6173470" y="6351270"/>
                    <a:pt x="5955030" y="6351270"/>
                  </a:cubicBezTo>
                  <a:lnTo>
                    <a:pt x="394970" y="6351270"/>
                  </a:lnTo>
                  <a:cubicBezTo>
                    <a:pt x="176530" y="6350000"/>
                    <a:pt x="0" y="6173470"/>
                    <a:pt x="0" y="5955030"/>
                  </a:cubicBezTo>
                  <a:close/>
                </a:path>
              </a:pathLst>
            </a:custGeom>
            <a:blipFill>
              <a:blip r:embed="rId2"/>
              <a:stretch>
                <a:fillRect l="-57130" t="0" r="-44083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28700" y="1564415"/>
            <a:ext cx="14066791" cy="1691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3859"/>
              </a:lnSpc>
            </a:pPr>
            <a:r>
              <a:rPr lang="en-US" sz="98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der Stuhl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816291" y="3969382"/>
            <a:ext cx="6787591" cy="488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rtl="true">
              <a:lnSpc>
                <a:spcPts val="4060"/>
              </a:lnSpc>
            </a:pPr>
            <a:r>
              <a:rPr lang="ar-EG" sz="2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الكرسي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45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777173" y="1028700"/>
            <a:ext cx="8115300" cy="8115300"/>
            <a:chOff x="0" y="0"/>
            <a:chExt cx="6350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351270"/>
            </a:xfrm>
            <a:custGeom>
              <a:avLst/>
              <a:gdLst/>
              <a:ahLst/>
              <a:cxnLst/>
              <a:rect r="r" b="b" t="t" l="l"/>
              <a:pathLst>
                <a:path h="6351270" w="6350000">
                  <a:moveTo>
                    <a:pt x="0" y="5955030"/>
                  </a:moveTo>
                  <a:lnTo>
                    <a:pt x="0" y="394970"/>
                  </a:lnTo>
                  <a:cubicBezTo>
                    <a:pt x="0" y="176530"/>
                    <a:pt x="176530" y="0"/>
                    <a:pt x="394970" y="0"/>
                  </a:cubicBezTo>
                  <a:lnTo>
                    <a:pt x="5956300" y="0"/>
                  </a:lnTo>
                  <a:cubicBezTo>
                    <a:pt x="6173470" y="0"/>
                    <a:pt x="6350000" y="176530"/>
                    <a:pt x="6350000" y="394970"/>
                  </a:cubicBezTo>
                  <a:lnTo>
                    <a:pt x="6350000" y="5956300"/>
                  </a:lnTo>
                  <a:cubicBezTo>
                    <a:pt x="6350000" y="6174740"/>
                    <a:pt x="6173470" y="6351270"/>
                    <a:pt x="5955030" y="6351270"/>
                  </a:cubicBezTo>
                  <a:lnTo>
                    <a:pt x="394970" y="6351270"/>
                  </a:lnTo>
                  <a:cubicBezTo>
                    <a:pt x="176530" y="6350000"/>
                    <a:pt x="0" y="6173470"/>
                    <a:pt x="0" y="5955030"/>
                  </a:cubicBezTo>
                  <a:close/>
                </a:path>
              </a:pathLst>
            </a:custGeom>
            <a:blipFill>
              <a:blip r:embed="rId2"/>
              <a:stretch>
                <a:fillRect l="-57130" t="0" r="-44083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28700" y="1564415"/>
            <a:ext cx="14066791" cy="1691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3859"/>
              </a:lnSpc>
            </a:pPr>
            <a:r>
              <a:rPr lang="en-US" sz="98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der Schrank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816291" y="3969382"/>
            <a:ext cx="6787591" cy="488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rtl="true">
              <a:lnSpc>
                <a:spcPts val="4060"/>
              </a:lnSpc>
            </a:pPr>
            <a:r>
              <a:rPr lang="ar-EG" sz="2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الخزانة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45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777173" y="1028700"/>
            <a:ext cx="8115300" cy="8115300"/>
            <a:chOff x="0" y="0"/>
            <a:chExt cx="6350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351270"/>
            </a:xfrm>
            <a:custGeom>
              <a:avLst/>
              <a:gdLst/>
              <a:ahLst/>
              <a:cxnLst/>
              <a:rect r="r" b="b" t="t" l="l"/>
              <a:pathLst>
                <a:path h="6351270" w="6350000">
                  <a:moveTo>
                    <a:pt x="0" y="5955030"/>
                  </a:moveTo>
                  <a:lnTo>
                    <a:pt x="0" y="394970"/>
                  </a:lnTo>
                  <a:cubicBezTo>
                    <a:pt x="0" y="176530"/>
                    <a:pt x="176530" y="0"/>
                    <a:pt x="394970" y="0"/>
                  </a:cubicBezTo>
                  <a:lnTo>
                    <a:pt x="5956300" y="0"/>
                  </a:lnTo>
                  <a:cubicBezTo>
                    <a:pt x="6173470" y="0"/>
                    <a:pt x="6350000" y="176530"/>
                    <a:pt x="6350000" y="394970"/>
                  </a:cubicBezTo>
                  <a:lnTo>
                    <a:pt x="6350000" y="5956300"/>
                  </a:lnTo>
                  <a:cubicBezTo>
                    <a:pt x="6350000" y="6174740"/>
                    <a:pt x="6173470" y="6351270"/>
                    <a:pt x="5955030" y="6351270"/>
                  </a:cubicBezTo>
                  <a:lnTo>
                    <a:pt x="394970" y="6351270"/>
                  </a:lnTo>
                  <a:cubicBezTo>
                    <a:pt x="176530" y="6350000"/>
                    <a:pt x="0" y="6173470"/>
                    <a:pt x="0" y="5955030"/>
                  </a:cubicBezTo>
                  <a:close/>
                </a:path>
              </a:pathLst>
            </a:custGeom>
            <a:blipFill>
              <a:blip r:embed="rId2"/>
              <a:stretch>
                <a:fillRect l="-57130" t="0" r="-44083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28700" y="1564415"/>
            <a:ext cx="14066791" cy="1691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3859"/>
              </a:lnSpc>
            </a:pPr>
            <a:r>
              <a:rPr lang="en-US" sz="98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die Lampe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816291" y="3969382"/>
            <a:ext cx="6787591" cy="488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rtl="true">
              <a:lnSpc>
                <a:spcPts val="4060"/>
              </a:lnSpc>
            </a:pPr>
            <a:r>
              <a:rPr lang="ar-EG" sz="2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المصباح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45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777173" y="1028700"/>
            <a:ext cx="8115300" cy="8115300"/>
            <a:chOff x="0" y="0"/>
            <a:chExt cx="6350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351270"/>
            </a:xfrm>
            <a:custGeom>
              <a:avLst/>
              <a:gdLst/>
              <a:ahLst/>
              <a:cxnLst/>
              <a:rect r="r" b="b" t="t" l="l"/>
              <a:pathLst>
                <a:path h="6351270" w="6350000">
                  <a:moveTo>
                    <a:pt x="0" y="5955030"/>
                  </a:moveTo>
                  <a:lnTo>
                    <a:pt x="0" y="394970"/>
                  </a:lnTo>
                  <a:cubicBezTo>
                    <a:pt x="0" y="176530"/>
                    <a:pt x="176530" y="0"/>
                    <a:pt x="394970" y="0"/>
                  </a:cubicBezTo>
                  <a:lnTo>
                    <a:pt x="5956300" y="0"/>
                  </a:lnTo>
                  <a:cubicBezTo>
                    <a:pt x="6173470" y="0"/>
                    <a:pt x="6350000" y="176530"/>
                    <a:pt x="6350000" y="394970"/>
                  </a:cubicBezTo>
                  <a:lnTo>
                    <a:pt x="6350000" y="5956300"/>
                  </a:lnTo>
                  <a:cubicBezTo>
                    <a:pt x="6350000" y="6174740"/>
                    <a:pt x="6173470" y="6351270"/>
                    <a:pt x="5955030" y="6351270"/>
                  </a:cubicBezTo>
                  <a:lnTo>
                    <a:pt x="394970" y="6351270"/>
                  </a:lnTo>
                  <a:cubicBezTo>
                    <a:pt x="176530" y="6350000"/>
                    <a:pt x="0" y="6173470"/>
                    <a:pt x="0" y="5955030"/>
                  </a:cubicBezTo>
                  <a:close/>
                </a:path>
              </a:pathLst>
            </a:custGeom>
            <a:blipFill>
              <a:blip r:embed="rId2"/>
              <a:stretch>
                <a:fillRect l="-57130" t="0" r="-44083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28700" y="1564415"/>
            <a:ext cx="14066791" cy="1691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3859"/>
              </a:lnSpc>
            </a:pPr>
            <a:r>
              <a:rPr lang="en-US" sz="98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die Lampe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816291" y="3969382"/>
            <a:ext cx="6787591" cy="488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rtl="true">
              <a:lnSpc>
                <a:spcPts val="4060"/>
              </a:lnSpc>
            </a:pPr>
            <a:r>
              <a:rPr lang="ar-EG" sz="2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المصباح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45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777173" y="1028700"/>
            <a:ext cx="8115300" cy="8115300"/>
            <a:chOff x="0" y="0"/>
            <a:chExt cx="6350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351270"/>
            </a:xfrm>
            <a:custGeom>
              <a:avLst/>
              <a:gdLst/>
              <a:ahLst/>
              <a:cxnLst/>
              <a:rect r="r" b="b" t="t" l="l"/>
              <a:pathLst>
                <a:path h="6351270" w="6350000">
                  <a:moveTo>
                    <a:pt x="0" y="5955030"/>
                  </a:moveTo>
                  <a:lnTo>
                    <a:pt x="0" y="394970"/>
                  </a:lnTo>
                  <a:cubicBezTo>
                    <a:pt x="0" y="176530"/>
                    <a:pt x="176530" y="0"/>
                    <a:pt x="394970" y="0"/>
                  </a:cubicBezTo>
                  <a:lnTo>
                    <a:pt x="5956300" y="0"/>
                  </a:lnTo>
                  <a:cubicBezTo>
                    <a:pt x="6173470" y="0"/>
                    <a:pt x="6350000" y="176530"/>
                    <a:pt x="6350000" y="394970"/>
                  </a:cubicBezTo>
                  <a:lnTo>
                    <a:pt x="6350000" y="5956300"/>
                  </a:lnTo>
                  <a:cubicBezTo>
                    <a:pt x="6350000" y="6174740"/>
                    <a:pt x="6173470" y="6351270"/>
                    <a:pt x="5955030" y="6351270"/>
                  </a:cubicBezTo>
                  <a:lnTo>
                    <a:pt x="394970" y="6351270"/>
                  </a:lnTo>
                  <a:cubicBezTo>
                    <a:pt x="176530" y="6350000"/>
                    <a:pt x="0" y="6173470"/>
                    <a:pt x="0" y="5955030"/>
                  </a:cubicBezTo>
                  <a:close/>
                </a:path>
              </a:pathLst>
            </a:custGeom>
            <a:blipFill>
              <a:blip r:embed="rId2"/>
              <a:stretch>
                <a:fillRect l="-57130" t="0" r="-44083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36638" y="298371"/>
            <a:ext cx="17340534" cy="4650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59"/>
              </a:lnSpc>
            </a:pPr>
            <a:r>
              <a:rPr lang="en-US" sz="43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Ich wohne in einer Wohnung.</a:t>
            </a:r>
          </a:p>
          <a:p>
            <a:pPr algn="l">
              <a:lnSpc>
                <a:spcPts val="6159"/>
              </a:lnSpc>
            </a:pPr>
            <a:r>
              <a:rPr lang="en-US" sz="43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Die Wohnung ist klein, aber schön.</a:t>
            </a:r>
          </a:p>
          <a:p>
            <a:pPr algn="l">
              <a:lnSpc>
                <a:spcPts val="6159"/>
              </a:lnSpc>
            </a:pPr>
            <a:r>
              <a:rPr lang="en-US" sz="43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Es gibt ein Wohnzimmer, ein Schlafzimmer un</a:t>
            </a:r>
            <a:r>
              <a:rPr lang="en-US" sz="43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 eine Küche.</a:t>
            </a:r>
          </a:p>
          <a:p>
            <a:pPr algn="l">
              <a:lnSpc>
                <a:spcPts val="6159"/>
              </a:lnSpc>
            </a:pPr>
            <a:r>
              <a:rPr lang="en-US" sz="43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Im Wohnzimmer stehen ein Tisch, ein Stuhl und eine Lampe.</a:t>
            </a:r>
          </a:p>
          <a:p>
            <a:pPr algn="l">
              <a:lnSpc>
                <a:spcPts val="6159"/>
              </a:lnSpc>
            </a:pPr>
            <a:r>
              <a:rPr lang="en-US" sz="43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Das Schlafzimmer hat ein Bett und einen Schrank.</a:t>
            </a:r>
          </a:p>
          <a:p>
            <a:pPr algn="l">
              <a:lnSpc>
                <a:spcPts val="6159"/>
              </a:lnSpc>
            </a:pPr>
            <a:r>
              <a:rPr lang="en-US" sz="43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Das Badezimmer ist neben der Küche.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99087" y="6802136"/>
            <a:ext cx="16815636" cy="30600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rtl="true">
              <a:lnSpc>
                <a:spcPts val="4060"/>
              </a:lnSpc>
            </a:pPr>
            <a:r>
              <a:rPr lang="ar-EG" sz="2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أنا أسكن في شقة.</a:t>
            </a:r>
          </a:p>
          <a:p>
            <a:pPr algn="just" rtl="true">
              <a:lnSpc>
                <a:spcPts val="4060"/>
              </a:lnSpc>
            </a:pPr>
            <a:r>
              <a:rPr lang="ar-EG" sz="2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 </a:t>
            </a:r>
            <a:r>
              <a:rPr lang="ar-EG" sz="2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الشقة صغيرة ولكن جميلة.</a:t>
            </a:r>
          </a:p>
          <a:p>
            <a:pPr algn="just" rtl="true">
              <a:lnSpc>
                <a:spcPts val="4060"/>
              </a:lnSpc>
            </a:pPr>
            <a:r>
              <a:rPr lang="ar-EG" sz="2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 فيها غرفة جلوس، غرفة نوم، ومطبخ.</a:t>
            </a:r>
          </a:p>
          <a:p>
            <a:pPr algn="just" rtl="true">
              <a:lnSpc>
                <a:spcPts val="4060"/>
              </a:lnSpc>
            </a:pPr>
            <a:r>
              <a:rPr lang="ar-EG" sz="2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 في غرفة الجلوس توجد طاولة وكرسي ومصباح.</a:t>
            </a:r>
          </a:p>
          <a:p>
            <a:pPr algn="just" rtl="true">
              <a:lnSpc>
                <a:spcPts val="4060"/>
              </a:lnSpc>
            </a:pPr>
            <a:r>
              <a:rPr lang="ar-EG" sz="2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 غرفة النوم فيها سرير وخزانة.</a:t>
            </a:r>
          </a:p>
          <a:p>
            <a:pPr algn="just" rtl="true">
              <a:lnSpc>
                <a:spcPts val="4060"/>
              </a:lnSpc>
            </a:pPr>
            <a:r>
              <a:rPr lang="ar-EG" sz="2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 الحمّام بجانب المطبخ.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45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777173" y="1028700"/>
            <a:ext cx="8115300" cy="8115300"/>
            <a:chOff x="0" y="0"/>
            <a:chExt cx="6350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351270"/>
            </a:xfrm>
            <a:custGeom>
              <a:avLst/>
              <a:gdLst/>
              <a:ahLst/>
              <a:cxnLst/>
              <a:rect r="r" b="b" t="t" l="l"/>
              <a:pathLst>
                <a:path h="6351270" w="6350000">
                  <a:moveTo>
                    <a:pt x="0" y="5955030"/>
                  </a:moveTo>
                  <a:lnTo>
                    <a:pt x="0" y="394970"/>
                  </a:lnTo>
                  <a:cubicBezTo>
                    <a:pt x="0" y="176530"/>
                    <a:pt x="176530" y="0"/>
                    <a:pt x="394970" y="0"/>
                  </a:cubicBezTo>
                  <a:lnTo>
                    <a:pt x="5956300" y="0"/>
                  </a:lnTo>
                  <a:cubicBezTo>
                    <a:pt x="6173470" y="0"/>
                    <a:pt x="6350000" y="176530"/>
                    <a:pt x="6350000" y="394970"/>
                  </a:cubicBezTo>
                  <a:lnTo>
                    <a:pt x="6350000" y="5956300"/>
                  </a:lnTo>
                  <a:cubicBezTo>
                    <a:pt x="6350000" y="6174740"/>
                    <a:pt x="6173470" y="6351270"/>
                    <a:pt x="5955030" y="6351270"/>
                  </a:cubicBezTo>
                  <a:lnTo>
                    <a:pt x="394970" y="6351270"/>
                  </a:lnTo>
                  <a:cubicBezTo>
                    <a:pt x="176530" y="6350000"/>
                    <a:pt x="0" y="6173470"/>
                    <a:pt x="0" y="5955030"/>
                  </a:cubicBezTo>
                  <a:close/>
                </a:path>
              </a:pathLst>
            </a:custGeom>
            <a:blipFill>
              <a:blip r:embed="rId2"/>
              <a:stretch>
                <a:fillRect l="-57130" t="0" r="-44083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36638" y="298371"/>
            <a:ext cx="17340534" cy="5431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59"/>
              </a:lnSpc>
            </a:pPr>
            <a:r>
              <a:rPr lang="en-US" sz="43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Meine</a:t>
            </a:r>
            <a:r>
              <a:rPr lang="en-US" sz="43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Wohnung ist in einem Haus.</a:t>
            </a:r>
          </a:p>
          <a:p>
            <a:pPr algn="l">
              <a:lnSpc>
                <a:spcPts val="6159"/>
              </a:lnSpc>
            </a:pPr>
            <a:r>
              <a:rPr lang="en-US" sz="43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Die Wohnung hat zwei Zimmer.</a:t>
            </a:r>
          </a:p>
          <a:p>
            <a:pPr algn="l">
              <a:lnSpc>
                <a:spcPts val="6159"/>
              </a:lnSpc>
            </a:pPr>
            <a:r>
              <a:rPr lang="en-US" sz="43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Ich habe ein großes Wohnzimmer und ein kleines Schlafzimmer.</a:t>
            </a:r>
          </a:p>
          <a:p>
            <a:pPr algn="l">
              <a:lnSpc>
                <a:spcPts val="6159"/>
              </a:lnSpc>
            </a:pPr>
            <a:r>
              <a:rPr lang="en-US" sz="43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In</a:t>
            </a:r>
            <a:r>
              <a:rPr lang="en-US" sz="43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der Küche gibt es einen Tisch.</a:t>
            </a:r>
          </a:p>
          <a:p>
            <a:pPr algn="l">
              <a:lnSpc>
                <a:spcPts val="6159"/>
              </a:lnSpc>
            </a:pPr>
            <a:r>
              <a:rPr lang="en-US" sz="43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Das Fenster ist groß und die Tür ist weiß.</a:t>
            </a:r>
          </a:p>
          <a:p>
            <a:pPr algn="l">
              <a:lnSpc>
                <a:spcPts val="6159"/>
              </a:lnSpc>
            </a:pPr>
            <a:r>
              <a:rPr lang="en-US" sz="43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Ich mag meine Wohnung sehr.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99087" y="6802136"/>
            <a:ext cx="16815636" cy="30600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rtl="true">
              <a:lnSpc>
                <a:spcPts val="4060"/>
              </a:lnSpc>
            </a:pPr>
            <a:r>
              <a:rPr lang="ar-EG" sz="2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شقّتي في منزل.</a:t>
            </a:r>
          </a:p>
          <a:p>
            <a:pPr algn="just" rtl="true">
              <a:lnSpc>
                <a:spcPts val="4060"/>
              </a:lnSpc>
            </a:pPr>
            <a:r>
              <a:rPr lang="ar-EG" sz="2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 </a:t>
            </a:r>
            <a:r>
              <a:rPr lang="ar-EG" sz="2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الشقة فيها غرفتان.</a:t>
            </a:r>
          </a:p>
          <a:p>
            <a:pPr algn="just" rtl="true">
              <a:lnSpc>
                <a:spcPts val="4060"/>
              </a:lnSpc>
            </a:pPr>
            <a:r>
              <a:rPr lang="ar-EG" sz="2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 عندي غرفة جلوس كبيرة وغرفة نوم صغيرة.</a:t>
            </a:r>
          </a:p>
          <a:p>
            <a:pPr algn="just" rtl="true">
              <a:lnSpc>
                <a:spcPts val="4060"/>
              </a:lnSpc>
            </a:pPr>
            <a:r>
              <a:rPr lang="ar-EG" sz="2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 في المطبخ توجد طاولة.</a:t>
            </a:r>
          </a:p>
          <a:p>
            <a:pPr algn="just" rtl="true">
              <a:lnSpc>
                <a:spcPts val="4060"/>
              </a:lnSpc>
            </a:pPr>
            <a:r>
              <a:rPr lang="ar-EG" sz="2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 النافذة كبيرة والباب أبيض.</a:t>
            </a:r>
          </a:p>
          <a:p>
            <a:pPr algn="just" rtl="true">
              <a:lnSpc>
                <a:spcPts val="4060"/>
              </a:lnSpc>
            </a:pPr>
            <a:r>
              <a:rPr lang="ar-EG" sz="2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 أنا أحب شقتي كثيرًا.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45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777173" y="1028700"/>
            <a:ext cx="8115300" cy="8115300"/>
            <a:chOff x="0" y="0"/>
            <a:chExt cx="6350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351270"/>
            </a:xfrm>
            <a:custGeom>
              <a:avLst/>
              <a:gdLst/>
              <a:ahLst/>
              <a:cxnLst/>
              <a:rect r="r" b="b" t="t" l="l"/>
              <a:pathLst>
                <a:path h="6351270" w="6350000">
                  <a:moveTo>
                    <a:pt x="0" y="5955030"/>
                  </a:moveTo>
                  <a:lnTo>
                    <a:pt x="0" y="394970"/>
                  </a:lnTo>
                  <a:cubicBezTo>
                    <a:pt x="0" y="176530"/>
                    <a:pt x="176530" y="0"/>
                    <a:pt x="394970" y="0"/>
                  </a:cubicBezTo>
                  <a:lnTo>
                    <a:pt x="5956300" y="0"/>
                  </a:lnTo>
                  <a:cubicBezTo>
                    <a:pt x="6173470" y="0"/>
                    <a:pt x="6350000" y="176530"/>
                    <a:pt x="6350000" y="394970"/>
                  </a:cubicBezTo>
                  <a:lnTo>
                    <a:pt x="6350000" y="5956300"/>
                  </a:lnTo>
                  <a:cubicBezTo>
                    <a:pt x="6350000" y="6174740"/>
                    <a:pt x="6173470" y="6351270"/>
                    <a:pt x="5955030" y="6351270"/>
                  </a:cubicBezTo>
                  <a:lnTo>
                    <a:pt x="394970" y="6351270"/>
                  </a:lnTo>
                  <a:cubicBezTo>
                    <a:pt x="176530" y="6350000"/>
                    <a:pt x="0" y="6173470"/>
                    <a:pt x="0" y="5955030"/>
                  </a:cubicBezTo>
                  <a:close/>
                </a:path>
              </a:pathLst>
            </a:custGeom>
            <a:blipFill>
              <a:blip r:embed="rId2"/>
              <a:stretch>
                <a:fillRect l="-57130" t="0" r="-44083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36638" y="298371"/>
            <a:ext cx="17340534" cy="4650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59"/>
              </a:lnSpc>
            </a:pPr>
          </a:p>
          <a:p>
            <a:pPr algn="l">
              <a:lnSpc>
                <a:spcPts val="6159"/>
              </a:lnSpc>
            </a:pPr>
            <a:r>
              <a:rPr lang="en-US" sz="43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Das ist meine Wohnung.</a:t>
            </a:r>
          </a:p>
          <a:p>
            <a:pPr algn="l">
              <a:lnSpc>
                <a:spcPts val="6159"/>
              </a:lnSpc>
            </a:pPr>
            <a:r>
              <a:rPr lang="en-US" sz="43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Ich habe ein Zimmer.</a:t>
            </a:r>
          </a:p>
          <a:p>
            <a:pPr algn="l">
              <a:lnSpc>
                <a:spcPts val="6159"/>
              </a:lnSpc>
            </a:pPr>
            <a:r>
              <a:rPr lang="en-US" sz="43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Im Zimmer steht ein Bett.</a:t>
            </a:r>
          </a:p>
          <a:p>
            <a:pPr algn="l">
              <a:lnSpc>
                <a:spcPts val="6159"/>
              </a:lnSpc>
            </a:pPr>
            <a:r>
              <a:rPr lang="en-US" sz="43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Es</a:t>
            </a:r>
            <a:r>
              <a:rPr lang="en-US" sz="43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gibt ein Fenster und eine Tür.</a:t>
            </a:r>
          </a:p>
          <a:p>
            <a:pPr algn="l">
              <a:lnSpc>
                <a:spcPts val="6159"/>
              </a:lnSpc>
            </a:pPr>
            <a:r>
              <a:rPr lang="en-US" sz="43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Die Wohnung ist ruhig.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99087" y="6802136"/>
            <a:ext cx="16815636" cy="2545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rtl="true">
              <a:lnSpc>
                <a:spcPts val="4060"/>
              </a:lnSpc>
            </a:pPr>
            <a:r>
              <a:rPr lang="ar-EG" sz="2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هذه شقتي.</a:t>
            </a:r>
          </a:p>
          <a:p>
            <a:pPr algn="just" rtl="true">
              <a:lnSpc>
                <a:spcPts val="4060"/>
              </a:lnSpc>
            </a:pPr>
            <a:r>
              <a:rPr lang="ar-EG" sz="2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 عندي غرفة واحدة.</a:t>
            </a:r>
          </a:p>
          <a:p>
            <a:pPr algn="just" rtl="true">
              <a:lnSpc>
                <a:spcPts val="4060"/>
              </a:lnSpc>
            </a:pPr>
            <a:r>
              <a:rPr lang="ar-EG" sz="2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 في الغرفة يوجد سرير.</a:t>
            </a:r>
          </a:p>
          <a:p>
            <a:pPr algn="just" rtl="true">
              <a:lnSpc>
                <a:spcPts val="4060"/>
              </a:lnSpc>
            </a:pPr>
            <a:r>
              <a:rPr lang="ar-EG" sz="2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 توجد نافذة وباب.</a:t>
            </a:r>
          </a:p>
          <a:p>
            <a:pPr algn="just" rtl="true">
              <a:lnSpc>
                <a:spcPts val="4060"/>
              </a:lnSpc>
            </a:pPr>
            <a:r>
              <a:rPr lang="ar-EG" sz="2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 الشقة هادئة.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45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777173" y="1028700"/>
            <a:ext cx="8115300" cy="8115300"/>
            <a:chOff x="0" y="0"/>
            <a:chExt cx="6350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351270"/>
            </a:xfrm>
            <a:custGeom>
              <a:avLst/>
              <a:gdLst/>
              <a:ahLst/>
              <a:cxnLst/>
              <a:rect r="r" b="b" t="t" l="l"/>
              <a:pathLst>
                <a:path h="6351270" w="6350000">
                  <a:moveTo>
                    <a:pt x="0" y="5955030"/>
                  </a:moveTo>
                  <a:lnTo>
                    <a:pt x="0" y="394970"/>
                  </a:lnTo>
                  <a:cubicBezTo>
                    <a:pt x="0" y="176530"/>
                    <a:pt x="176530" y="0"/>
                    <a:pt x="394970" y="0"/>
                  </a:cubicBezTo>
                  <a:lnTo>
                    <a:pt x="5956300" y="0"/>
                  </a:lnTo>
                  <a:cubicBezTo>
                    <a:pt x="6173470" y="0"/>
                    <a:pt x="6350000" y="176530"/>
                    <a:pt x="6350000" y="394970"/>
                  </a:cubicBezTo>
                  <a:lnTo>
                    <a:pt x="6350000" y="5956300"/>
                  </a:lnTo>
                  <a:cubicBezTo>
                    <a:pt x="6350000" y="6174740"/>
                    <a:pt x="6173470" y="6351270"/>
                    <a:pt x="5955030" y="6351270"/>
                  </a:cubicBezTo>
                  <a:lnTo>
                    <a:pt x="394970" y="6351270"/>
                  </a:lnTo>
                  <a:cubicBezTo>
                    <a:pt x="176530" y="6350000"/>
                    <a:pt x="0" y="6173470"/>
                    <a:pt x="0" y="5955030"/>
                  </a:cubicBezTo>
                  <a:close/>
                </a:path>
              </a:pathLst>
            </a:custGeom>
            <a:blipFill>
              <a:blip r:embed="rId2"/>
              <a:stretch>
                <a:fillRect l="-57130" t="0" r="-44083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36638" y="298371"/>
            <a:ext cx="17340534" cy="5980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0"/>
              </a:lnSpc>
            </a:pPr>
            <a:r>
              <a:rPr lang="en-US" sz="3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Ich wohne seit zwei Jahren in einer Wohnung in der Stadt.</a:t>
            </a:r>
          </a:p>
          <a:p>
            <a:pPr algn="l">
              <a:lnSpc>
                <a:spcPts val="5320"/>
              </a:lnSpc>
            </a:pPr>
            <a:r>
              <a:rPr lang="en-US" sz="3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Die Wohnung ist nicht sehr groß, aber sie ist hell und ruhig.</a:t>
            </a:r>
          </a:p>
          <a:p>
            <a:pPr algn="l">
              <a:lnSpc>
                <a:spcPts val="5320"/>
              </a:lnSpc>
            </a:pPr>
            <a:r>
              <a:rPr lang="en-US" sz="3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Es gibt ein Wohnzimmer, ein Schlafzimmer, eine Küche und ein Badezimmer.</a:t>
            </a:r>
          </a:p>
          <a:p>
            <a:pPr algn="l">
              <a:lnSpc>
                <a:spcPts val="5320"/>
              </a:lnSpc>
            </a:pPr>
            <a:r>
              <a:rPr lang="en-US" sz="3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Im Wohnzimmer stehen ein Sofa, ein Tisch, vier Stühle und eine Lampe.</a:t>
            </a:r>
          </a:p>
          <a:p>
            <a:pPr algn="l">
              <a:lnSpc>
                <a:spcPts val="5320"/>
              </a:lnSpc>
            </a:pPr>
            <a:r>
              <a:rPr lang="en-US" sz="3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Das</a:t>
            </a:r>
            <a:r>
              <a:rPr lang="en-US" sz="3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Schlafzimmer hat ein Bett, einen Schrank und ein großes Fenster.</a:t>
            </a:r>
          </a:p>
          <a:p>
            <a:pPr algn="l">
              <a:lnSpc>
                <a:spcPts val="5320"/>
              </a:lnSpc>
            </a:pPr>
            <a:r>
              <a:rPr lang="en-US" sz="3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Der Balkon ist klein, aber ich trinke dort gern Kaffee.</a:t>
            </a:r>
          </a:p>
          <a:p>
            <a:pPr algn="l">
              <a:lnSpc>
                <a:spcPts val="5320"/>
              </a:lnSpc>
            </a:pPr>
            <a:r>
              <a:rPr lang="en-US" sz="3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Ich mag meine Wohnung, weil sie bequem ist.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99087" y="6811661"/>
            <a:ext cx="16815636" cy="3329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rtl="true">
              <a:lnSpc>
                <a:spcPts val="3360"/>
              </a:lnSpc>
            </a:pPr>
            <a:r>
              <a:rPr lang="ar-EG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أسكن منذ سنتين في شقة في المدينة.</a:t>
            </a:r>
          </a:p>
          <a:p>
            <a:pPr algn="just" rtl="true">
              <a:lnSpc>
                <a:spcPts val="3360"/>
              </a:lnSpc>
            </a:pPr>
            <a:r>
              <a:rPr lang="ar-EG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 الشقة ليست كبيرة جدًا، لكنها مضيئة وهادئة.</a:t>
            </a:r>
          </a:p>
          <a:p>
            <a:pPr algn="just" rtl="true">
              <a:lnSpc>
                <a:spcPts val="3360"/>
              </a:lnSpc>
            </a:pPr>
            <a:r>
              <a:rPr lang="ar-EG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 توجد غرفة جلوس، غرفة نوم، مطبخ، وحمّام.</a:t>
            </a:r>
          </a:p>
          <a:p>
            <a:pPr algn="just" rtl="true">
              <a:lnSpc>
                <a:spcPts val="3360"/>
              </a:lnSpc>
            </a:pPr>
            <a:r>
              <a:rPr lang="ar-EG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 في غرفة الجلوس يوجد أريكة وطاولة وأربعة كراسٍ ومصباح.</a:t>
            </a:r>
          </a:p>
          <a:p>
            <a:pPr algn="just" rtl="true">
              <a:lnSpc>
                <a:spcPts val="3360"/>
              </a:lnSpc>
            </a:pPr>
            <a:r>
              <a:rPr lang="ar-EG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 غرفة النوم فيها سرير وخزانة ونافذة كبيرة.</a:t>
            </a:r>
          </a:p>
          <a:p>
            <a:pPr algn="just" rtl="true">
              <a:lnSpc>
                <a:spcPts val="3360"/>
              </a:lnSpc>
            </a:pPr>
            <a:r>
              <a:rPr lang="ar-EG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 الشرفة صغيرة، لكنني أحب شرب القهوة هناك.</a:t>
            </a:r>
          </a:p>
          <a:p>
            <a:pPr algn="just" rtl="true">
              <a:lnSpc>
                <a:spcPts val="3360"/>
              </a:lnSpc>
            </a:pPr>
            <a:r>
              <a:rPr lang="ar-EG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 أحب شقتي لأنها مريحة.</a:t>
            </a:r>
          </a:p>
          <a:p>
            <a:pPr algn="just" rtl="true">
              <a:lnSpc>
                <a:spcPts val="3360"/>
              </a:lnSpc>
            </a:pP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45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777173" y="1028700"/>
            <a:ext cx="8115300" cy="8115300"/>
            <a:chOff x="0" y="0"/>
            <a:chExt cx="6350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351270"/>
            </a:xfrm>
            <a:custGeom>
              <a:avLst/>
              <a:gdLst/>
              <a:ahLst/>
              <a:cxnLst/>
              <a:rect r="r" b="b" t="t" l="l"/>
              <a:pathLst>
                <a:path h="6351270" w="6350000">
                  <a:moveTo>
                    <a:pt x="0" y="5955030"/>
                  </a:moveTo>
                  <a:lnTo>
                    <a:pt x="0" y="394970"/>
                  </a:lnTo>
                  <a:cubicBezTo>
                    <a:pt x="0" y="176530"/>
                    <a:pt x="176530" y="0"/>
                    <a:pt x="394970" y="0"/>
                  </a:cubicBezTo>
                  <a:lnTo>
                    <a:pt x="5956300" y="0"/>
                  </a:lnTo>
                  <a:cubicBezTo>
                    <a:pt x="6173470" y="0"/>
                    <a:pt x="6350000" y="176530"/>
                    <a:pt x="6350000" y="394970"/>
                  </a:cubicBezTo>
                  <a:lnTo>
                    <a:pt x="6350000" y="5956300"/>
                  </a:lnTo>
                  <a:cubicBezTo>
                    <a:pt x="6350000" y="6174740"/>
                    <a:pt x="6173470" y="6351270"/>
                    <a:pt x="5955030" y="6351270"/>
                  </a:cubicBezTo>
                  <a:lnTo>
                    <a:pt x="394970" y="6351270"/>
                  </a:lnTo>
                  <a:cubicBezTo>
                    <a:pt x="176530" y="6350000"/>
                    <a:pt x="0" y="6173470"/>
                    <a:pt x="0" y="5955030"/>
                  </a:cubicBezTo>
                  <a:close/>
                </a:path>
              </a:pathLst>
            </a:custGeom>
            <a:blipFill>
              <a:blip r:embed="rId2"/>
              <a:stretch>
                <a:fillRect l="-57130" t="0" r="-44083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36638" y="298371"/>
            <a:ext cx="17340534" cy="5313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0"/>
              </a:lnSpc>
            </a:pPr>
          </a:p>
          <a:p>
            <a:pPr algn="l">
              <a:lnSpc>
                <a:spcPts val="5320"/>
              </a:lnSpc>
            </a:pPr>
            <a:r>
              <a:rPr lang="en-US" sz="3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Meine</a:t>
            </a:r>
            <a:r>
              <a:rPr lang="en-US" sz="3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Wohnung liegt im zweiten Stock eines Hauses.</a:t>
            </a:r>
          </a:p>
          <a:p>
            <a:pPr algn="l">
              <a:lnSpc>
                <a:spcPts val="5320"/>
              </a:lnSpc>
            </a:pPr>
            <a:r>
              <a:rPr lang="en-US" sz="3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Die Miete ist nicht teuer und der Vermieter ist freundlich.</a:t>
            </a:r>
          </a:p>
          <a:p>
            <a:pPr algn="l">
              <a:lnSpc>
                <a:spcPts val="5320"/>
              </a:lnSpc>
            </a:pPr>
            <a:r>
              <a:rPr lang="en-US" sz="3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Die Wohnung hat drei Zimmer und moderne Möbel.</a:t>
            </a:r>
          </a:p>
          <a:p>
            <a:pPr algn="l">
              <a:lnSpc>
                <a:spcPts val="5320"/>
              </a:lnSpc>
            </a:pPr>
            <a:r>
              <a:rPr lang="en-US" sz="3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In der Küche koche ich jeden Tag und esse am Tisch.</a:t>
            </a:r>
          </a:p>
          <a:p>
            <a:pPr algn="l">
              <a:lnSpc>
                <a:spcPts val="5320"/>
              </a:lnSpc>
            </a:pPr>
            <a:r>
              <a:rPr lang="en-US" sz="3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Das</a:t>
            </a:r>
            <a:r>
              <a:rPr lang="en-US" sz="3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Badezimmer ist neu und sehr sauber.</a:t>
            </a:r>
          </a:p>
          <a:p>
            <a:pPr algn="l">
              <a:lnSpc>
                <a:spcPts val="5320"/>
              </a:lnSpc>
            </a:pPr>
            <a:r>
              <a:rPr lang="en-US" sz="3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Am Abend sitze ich im Wohnzimmer und sehe fern.</a:t>
            </a:r>
          </a:p>
          <a:p>
            <a:pPr algn="l">
              <a:lnSpc>
                <a:spcPts val="5320"/>
              </a:lnSpc>
            </a:pPr>
            <a:r>
              <a:rPr lang="en-US" sz="3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Am Wochenende lade ich Freunde in meine Wohnung ein.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99087" y="6811661"/>
            <a:ext cx="16815636" cy="2910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rtl="true">
              <a:lnSpc>
                <a:spcPts val="3360"/>
              </a:lnSpc>
            </a:pPr>
            <a:r>
              <a:rPr lang="ar-EG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تقع شقتي في الطابق الثاني من منزل.</a:t>
            </a:r>
          </a:p>
          <a:p>
            <a:pPr algn="just" rtl="true">
              <a:lnSpc>
                <a:spcPts val="3360"/>
              </a:lnSpc>
            </a:pPr>
            <a:r>
              <a:rPr lang="ar-EG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 الكراء ليس غاليًا والمالك شخص لطيف.</a:t>
            </a:r>
          </a:p>
          <a:p>
            <a:pPr algn="just" rtl="true">
              <a:lnSpc>
                <a:spcPts val="3360"/>
              </a:lnSpc>
            </a:pPr>
            <a:r>
              <a:rPr lang="ar-EG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 الشقة فيها ثلاث غرف وأثاث حديث.</a:t>
            </a:r>
          </a:p>
          <a:p>
            <a:pPr algn="just" rtl="true">
              <a:lnSpc>
                <a:spcPts val="3360"/>
              </a:lnSpc>
            </a:pPr>
            <a:r>
              <a:rPr lang="ar-EG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 في المطبخ أطبخ كل يوم وأتناول الطعام على الطاولة.</a:t>
            </a:r>
          </a:p>
          <a:p>
            <a:pPr algn="just" rtl="true">
              <a:lnSpc>
                <a:spcPts val="3360"/>
              </a:lnSpc>
            </a:pPr>
            <a:r>
              <a:rPr lang="ar-EG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 الحمّام جديد ونظيف جدًا.</a:t>
            </a:r>
          </a:p>
          <a:p>
            <a:pPr algn="just" rtl="true">
              <a:lnSpc>
                <a:spcPts val="3360"/>
              </a:lnSpc>
            </a:pPr>
            <a:r>
              <a:rPr lang="ar-EG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 في المساء أجلس في غرفة الجلوس وأشاهد التلفاز.</a:t>
            </a:r>
          </a:p>
          <a:p>
            <a:pPr algn="just" rtl="true">
              <a:lnSpc>
                <a:spcPts val="3360"/>
              </a:lnSpc>
            </a:pPr>
            <a:r>
              <a:rPr lang="ar-EG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 في عطلة نهاية الأسبوع أدعو أصدقائي إلى شقتي.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45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777173" y="1028700"/>
            <a:ext cx="8115300" cy="8115300"/>
            <a:chOff x="0" y="0"/>
            <a:chExt cx="6350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351270"/>
            </a:xfrm>
            <a:custGeom>
              <a:avLst/>
              <a:gdLst/>
              <a:ahLst/>
              <a:cxnLst/>
              <a:rect r="r" b="b" t="t" l="l"/>
              <a:pathLst>
                <a:path h="6351270" w="6350000">
                  <a:moveTo>
                    <a:pt x="0" y="5955030"/>
                  </a:moveTo>
                  <a:lnTo>
                    <a:pt x="0" y="394970"/>
                  </a:lnTo>
                  <a:cubicBezTo>
                    <a:pt x="0" y="176530"/>
                    <a:pt x="176530" y="0"/>
                    <a:pt x="394970" y="0"/>
                  </a:cubicBezTo>
                  <a:lnTo>
                    <a:pt x="5956300" y="0"/>
                  </a:lnTo>
                  <a:cubicBezTo>
                    <a:pt x="6173470" y="0"/>
                    <a:pt x="6350000" y="176530"/>
                    <a:pt x="6350000" y="394970"/>
                  </a:cubicBezTo>
                  <a:lnTo>
                    <a:pt x="6350000" y="5956300"/>
                  </a:lnTo>
                  <a:cubicBezTo>
                    <a:pt x="6350000" y="6174740"/>
                    <a:pt x="6173470" y="6351270"/>
                    <a:pt x="5955030" y="6351270"/>
                  </a:cubicBezTo>
                  <a:lnTo>
                    <a:pt x="394970" y="6351270"/>
                  </a:lnTo>
                  <a:cubicBezTo>
                    <a:pt x="176530" y="6350000"/>
                    <a:pt x="0" y="6173470"/>
                    <a:pt x="0" y="5955030"/>
                  </a:cubicBezTo>
                  <a:close/>
                </a:path>
              </a:pathLst>
            </a:custGeom>
            <a:blipFill>
              <a:blip r:embed="rId2"/>
              <a:stretch>
                <a:fillRect l="-57130" t="0" r="-44083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36638" y="298371"/>
            <a:ext cx="17340534" cy="5313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0"/>
              </a:lnSpc>
            </a:pPr>
          </a:p>
          <a:p>
            <a:pPr algn="l">
              <a:lnSpc>
                <a:spcPts val="5320"/>
              </a:lnSpc>
            </a:pPr>
            <a:r>
              <a:rPr lang="en-US" sz="3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Ich suche eine</a:t>
            </a:r>
            <a:r>
              <a:rPr lang="en-US" sz="3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neue Wohnung, weil meine alte Wohnung zu klein ist.</a:t>
            </a:r>
          </a:p>
          <a:p>
            <a:pPr algn="l">
              <a:lnSpc>
                <a:spcPts val="5320"/>
              </a:lnSpc>
            </a:pPr>
            <a:r>
              <a:rPr lang="en-US" sz="3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Ich möchte eine Wohnung mit zwei Schlafzimmern und einem Balkon.</a:t>
            </a:r>
          </a:p>
          <a:p>
            <a:pPr algn="l">
              <a:lnSpc>
                <a:spcPts val="5320"/>
              </a:lnSpc>
            </a:pPr>
            <a:r>
              <a:rPr lang="en-US" sz="3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Die Wohnung soll hell sein und große Fenster haben.</a:t>
            </a:r>
          </a:p>
          <a:p>
            <a:pPr algn="l">
              <a:lnSpc>
                <a:spcPts val="5320"/>
              </a:lnSpc>
            </a:pPr>
            <a:r>
              <a:rPr lang="en-US" sz="3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Die Küche ist für mich sehr wichtig, denn ich koch</a:t>
            </a:r>
            <a:r>
              <a:rPr lang="en-US" sz="3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 gern.</a:t>
            </a:r>
          </a:p>
          <a:p>
            <a:pPr algn="l">
              <a:lnSpc>
                <a:spcPts val="5320"/>
              </a:lnSpc>
            </a:pPr>
            <a:r>
              <a:rPr lang="en-US" sz="3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Ich brauche auch ein ruhiges Wohnzimmer mit schönen Möbeln.</a:t>
            </a:r>
          </a:p>
          <a:p>
            <a:pPr algn="l">
              <a:lnSpc>
                <a:spcPts val="5320"/>
              </a:lnSpc>
            </a:pPr>
            <a:r>
              <a:rPr lang="en-US" sz="3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Ich hoffe, ich finde bald eine passende Wohnung.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99087" y="6811661"/>
            <a:ext cx="16815636" cy="2910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rtl="true">
              <a:lnSpc>
                <a:spcPts val="3360"/>
              </a:lnSpc>
            </a:pPr>
          </a:p>
          <a:p>
            <a:pPr algn="just" rtl="true">
              <a:lnSpc>
                <a:spcPts val="3360"/>
              </a:lnSpc>
            </a:pPr>
            <a:r>
              <a:rPr lang="ar-EG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 أبحث </a:t>
            </a:r>
            <a:r>
              <a:rPr lang="ar-EG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عن شقة جديدة لأن شقتي القديمة صغيرة جدًا.</a:t>
            </a:r>
          </a:p>
          <a:p>
            <a:pPr algn="just" rtl="true">
              <a:lnSpc>
                <a:spcPts val="3360"/>
              </a:lnSpc>
            </a:pPr>
            <a:r>
              <a:rPr lang="ar-EG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 أريد شقة فيها غرفتا نوم وشرفة.</a:t>
            </a:r>
          </a:p>
          <a:p>
            <a:pPr algn="just" rtl="true">
              <a:lnSpc>
                <a:spcPts val="3360"/>
              </a:lnSpc>
            </a:pPr>
            <a:r>
              <a:rPr lang="ar-EG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 يجب أن تكون الشقة مضيئة وبنوافذ كبيرة.</a:t>
            </a:r>
          </a:p>
          <a:p>
            <a:pPr algn="just" rtl="true">
              <a:lnSpc>
                <a:spcPts val="3360"/>
              </a:lnSpc>
            </a:pPr>
            <a:r>
              <a:rPr lang="ar-EG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 المطبخ مهم جدًا بالنسبة لي لأنني أحب الطبخ.</a:t>
            </a:r>
          </a:p>
          <a:p>
            <a:pPr algn="just" rtl="true">
              <a:lnSpc>
                <a:spcPts val="3360"/>
              </a:lnSpc>
            </a:pPr>
            <a:r>
              <a:rPr lang="ar-EG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 أحتاج أيضًا غرفة جلوس هادئة بأثاث جميل.</a:t>
            </a:r>
          </a:p>
          <a:p>
            <a:pPr algn="just" rtl="true">
              <a:lnSpc>
                <a:spcPts val="3360"/>
              </a:lnSpc>
            </a:pPr>
            <a:r>
              <a:rPr lang="ar-EG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 أتمنى أن أجد شقة مناسبة قريبًا.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DAHAjk4OoUA</dc:identifier>
  <dcterms:modified xsi:type="dcterms:W3CDTF">2011-08-01T06:04:30Z</dcterms:modified>
  <cp:revision>1</cp:revision>
  <dc:title>Wohnung</dc:title>
</cp:coreProperties>
</file>