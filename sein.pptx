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8288000" cy="10287000"/>
  <p:notesSz cx="6858000" cy="9144000"/>
  <p:embeddedFontLst>
    <p:embeddedFont>
      <p:font typeface="Montserrat Ultra-Bold" charset="1" panose="00000900000000000000"/>
      <p:regular r:id="rId46"/>
    </p:embeddedFont>
    <p:embeddedFont>
      <p:font typeface="Montserrat Bold" charset="1" panose="00000800000000000000"/>
      <p:regular r:id="rId47"/>
    </p:embeddedFont>
    <p:embeddedFont>
      <p:font typeface="Montserrat" charset="1" panose="0000050000000000000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100000">
            <a:off x="14324902" y="1469072"/>
            <a:ext cx="4879847" cy="15755995"/>
          </a:xfrm>
          <a:custGeom>
            <a:avLst/>
            <a:gdLst/>
            <a:ahLst/>
            <a:cxnLst/>
            <a:rect r="r" b="b" t="t" l="l"/>
            <a:pathLst>
              <a:path h="15755995" w="4879847">
                <a:moveTo>
                  <a:pt x="0" y="0"/>
                </a:moveTo>
                <a:lnTo>
                  <a:pt x="4879847" y="0"/>
                </a:lnTo>
                <a:lnTo>
                  <a:pt x="4879847" y="15755996"/>
                </a:lnTo>
                <a:lnTo>
                  <a:pt x="0" y="1575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8992690" y="1539949"/>
            <a:ext cx="9336114" cy="9336114"/>
          </a:xfrm>
          <a:custGeom>
            <a:avLst/>
            <a:gdLst/>
            <a:ahLst/>
            <a:cxnLst/>
            <a:rect r="r" b="b" t="t" l="l"/>
            <a:pathLst>
              <a:path h="9336114" w="9336114">
                <a:moveTo>
                  <a:pt x="0" y="0"/>
                </a:moveTo>
                <a:lnTo>
                  <a:pt x="9336113" y="0"/>
                </a:lnTo>
                <a:lnTo>
                  <a:pt x="9336113" y="9336114"/>
                </a:lnTo>
                <a:lnTo>
                  <a:pt x="0" y="9336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2971402" y="-9525"/>
            <a:ext cx="8233908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45"/>
              </a:lnSpc>
            </a:pPr>
            <a:r>
              <a:rPr lang="en-US" sz="11871" spc="427" b="true">
                <a:solidFill>
                  <a:srgbClr val="2A2E3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sein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2700000">
            <a:off x="521329" y="-3317944"/>
            <a:ext cx="2336254" cy="7543272"/>
          </a:xfrm>
          <a:custGeom>
            <a:avLst/>
            <a:gdLst/>
            <a:ahLst/>
            <a:cxnLst/>
            <a:rect r="r" b="b" t="t" l="l"/>
            <a:pathLst>
              <a:path h="7543272" w="2336254">
                <a:moveTo>
                  <a:pt x="0" y="0"/>
                </a:moveTo>
                <a:lnTo>
                  <a:pt x="2336254" y="0"/>
                </a:lnTo>
                <a:lnTo>
                  <a:pt x="2336254" y="7543273"/>
                </a:lnTo>
                <a:lnTo>
                  <a:pt x="0" y="7543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434583" y="-78920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9543792" y="2041673"/>
            <a:ext cx="8233908" cy="1808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45"/>
              </a:lnSpc>
            </a:pPr>
            <a:r>
              <a:rPr lang="en-US" sz="11871" spc="391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Präsens</a:t>
            </a:r>
            <a:r>
              <a:rPr lang="en-US" sz="11871" spc="391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6677" y="3584699"/>
            <a:ext cx="12119313" cy="1808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45"/>
              </a:lnSpc>
            </a:pPr>
            <a:r>
              <a:rPr lang="en-US" sz="11871" spc="391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Präteritum</a:t>
            </a:r>
            <a:r>
              <a:rPr lang="en-US" sz="11871" spc="391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88498" y="5651809"/>
            <a:ext cx="12119313" cy="1808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45"/>
              </a:lnSpc>
            </a:pPr>
            <a:r>
              <a:rPr lang="en-US" sz="11871" spc="391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  <a:r>
              <a:rPr lang="en-US" sz="11871" spc="391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551051"/>
            <a:ext cx="12119313" cy="1808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45"/>
              </a:lnSpc>
            </a:pPr>
            <a:r>
              <a:rPr lang="en-US" sz="11871" spc="391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</a:t>
            </a:r>
            <a:r>
              <a:rPr lang="en-US" sz="11871" spc="391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237800" y="981075"/>
            <a:ext cx="10832812" cy="1517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ar-EG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نستعمل</a:t>
            </a:r>
            <a:r>
              <a:rPr lang="ar-EG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المضارع عندما نتحدث عن شيء يحدث الآن أو حقيقة عامة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Präsens</a:t>
            </a:r>
            <a:r>
              <a:rPr lang="en-US" b="true" sz="7080" spc="254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833793" y="1955800"/>
            <a:ext cx="10832812" cy="630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bin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du bist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er ist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sie ist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es ist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wir sind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ihr seid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sie sind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Sie sind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Präsens</a:t>
            </a:r>
            <a:r>
              <a:rPr lang="en-US" b="true" sz="7080" spc="254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bin müde.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أنا متعب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Präsens</a:t>
            </a:r>
            <a:r>
              <a:rPr lang="en-US" b="true" sz="7080" spc="254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Du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bist nett.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أنت لطيف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Präsens</a:t>
            </a:r>
            <a:r>
              <a:rPr lang="en-US" b="true" sz="7080" spc="254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ist Lehrer.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هو معلم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Präsens</a:t>
            </a:r>
            <a:r>
              <a:rPr lang="en-US" b="true" sz="7080" spc="254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Sie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ist glücklich.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هي سعيدة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Präsens</a:t>
            </a:r>
            <a:r>
              <a:rPr lang="en-US" b="true" sz="7080" spc="254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Es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ist kalt.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الجو بارد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Präsens</a:t>
            </a:r>
            <a:r>
              <a:rPr lang="en-US" b="true" sz="7080" spc="254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Wir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sind hier.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نحن هنا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Präsens</a:t>
            </a:r>
            <a:r>
              <a:rPr lang="en-US" b="true" sz="7080" spc="254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Ihr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seid bereit.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أنتم مستعدون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Präsens</a:t>
            </a:r>
            <a:r>
              <a:rPr lang="en-US" b="true" sz="7080" spc="254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Sie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sind Schüler.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هم تلاميذ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Präsens</a:t>
            </a:r>
            <a:r>
              <a:rPr lang="en-US" b="true" sz="7080" spc="254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33793" y="4070350"/>
            <a:ext cx="10832812" cy="207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Sie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sind freundlich.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حضرتكم لطفاء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523237" y="1017708"/>
            <a:ext cx="10832812" cy="203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059"/>
              </a:lnSpc>
              <a:spcBef>
                <a:spcPct val="0"/>
              </a:spcBef>
            </a:pPr>
            <a:r>
              <a:rPr lang="ar-EG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نستعمل</a:t>
            </a:r>
            <a:r>
              <a:rPr lang="ar-EG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هذا الزمن غالبًا في القصص أو في الكتابة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r" marL="0" indent="0" lvl="0">
              <a:lnSpc>
                <a:spcPts val="4059"/>
              </a:lnSpc>
              <a:spcBef>
                <a:spcPct val="0"/>
              </a:spcBef>
            </a:pPr>
          </a:p>
          <a:p>
            <a:pPr algn="r" marL="0" indent="0" lvl="0">
              <a:lnSpc>
                <a:spcPts val="4059"/>
              </a:lnSpc>
              <a:spcBef>
                <a:spcPct val="0"/>
              </a:spcBef>
            </a:pPr>
          </a:p>
          <a:p>
            <a:pPr algn="r" marL="0" indent="0" lvl="0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Präteritum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833793" y="1250950"/>
            <a:ext cx="10832812" cy="771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ich war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du warst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er war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sie war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es war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wir waren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ihr wart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sie waren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Sie waren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war krank.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كنت مريضًا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Präteritum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Du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warst müde.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كنت متعبًا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Präteritum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war zu Hause.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كان في البيت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Präteritum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Sie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war traurig.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كانت حزينة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Präteritum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Es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war teuer.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كان غاليًا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Präteritum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Wir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waren im Kino.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كنا في السينما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Präteritum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Ihr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wart spät.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كنتم متأخرين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Präteritum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Sie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waren glücklich.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كانوا سعداء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Präteritum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Sie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waren Lehrer.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كنتم معلمين (رسمي)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Präteritum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523237" y="1274883"/>
            <a:ext cx="10832812" cy="1517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059"/>
              </a:lnSpc>
              <a:spcBef>
                <a:spcPct val="0"/>
              </a:spcBef>
            </a:pPr>
            <a:r>
              <a:rPr lang="ar-EG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هذا الزمن يُستعمل كثيرًا في الكلام اليومي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r" marL="0" indent="0" lvl="0">
              <a:lnSpc>
                <a:spcPts val="4059"/>
              </a:lnSpc>
              <a:spcBef>
                <a:spcPct val="0"/>
              </a:spcBef>
            </a:pPr>
          </a:p>
          <a:p>
            <a:pPr algn="r" marL="0" indent="0" lvl="0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833793" y="1250950"/>
            <a:ext cx="10832812" cy="771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ich bin gewesen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du bist gewesen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er ist gewesen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sie ist gewesen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es ist gewesen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wir sind gewesen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ihr seid gewesen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sie sind gewesen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Sie sind gewesen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bin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dort gewesen.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لقد كنت هناك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Du bist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krank gewesen.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لقد كنت مريضًا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 ist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hier gewesen.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لقد كان هنا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Sie ist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müde gewesen.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لقد كانت متعبة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Es ist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schwer gewesen.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لقد كان صعبًا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Wir sind im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Park gewesen.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لقد كنا في الحديقة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Ihr seid l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aut gewesen.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لقد كنتم صاخبين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Sie sind d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 gewesen.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لقد كانوا هناك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Sie sind freundlich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gewesen.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لقد كنتم لطفاء (رسمي)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042187" y="1532058"/>
            <a:ext cx="10832812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059"/>
              </a:lnSpc>
              <a:spcBef>
                <a:spcPct val="0"/>
              </a:spcBef>
            </a:pPr>
            <a:r>
              <a:rPr lang="ar-EG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عندم</a:t>
            </a:r>
            <a:r>
              <a:rPr lang="ar-EG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 نتكلم عن شيء سيحدث في المستقبل</a:t>
            </a:r>
          </a:p>
          <a:p>
            <a:pPr algn="r" marL="0" indent="0" lvl="0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 I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833793" y="1250950"/>
            <a:ext cx="10832812" cy="771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ich werde sein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du wirst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sein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er wird sein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sie wird sein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es wird sein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wir werden sein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ihr werdet sein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sie werden sein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Sie werden sein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werde morgen da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sein.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سأكون هناك غدًا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Du wirst glücklich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sein.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ستكون سعيدًا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Sie wird bereit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sein.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ستكون مستعدة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Es wird gut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sein.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سيكون جيدًا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Wir werden zusammen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sein.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سنكون معًا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Ihr werdet müde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sein.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ستكونون متعبين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Sie werden hier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sein.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سيكونون هنا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33793" y="4422775"/>
            <a:ext cx="1083281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Sie werden zufrieden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sein.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ستكونون راضين (رسمي)</a:t>
            </a:r>
            <a:r>
              <a:rPr lang="en-US" sz="3999" spc="17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21" y="32774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Perfekt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DAHBTG5Gw_Y</dc:identifier>
  <dcterms:modified xsi:type="dcterms:W3CDTF">2011-08-01T06:04:30Z</dcterms:modified>
  <cp:revision>1</cp:revision>
  <dc:title>sein</dc:title>
</cp:coreProperties>
</file>